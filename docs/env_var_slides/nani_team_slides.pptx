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Layouts/slideLayout1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" name="Shape 1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Aptos"/>
      </a:defRPr>
    </a:lvl1pPr>
    <a:lvl2pPr indent="228600" latinLnBrk="0">
      <a:defRPr sz="1200">
        <a:latin typeface="+mj-lt"/>
        <a:ea typeface="+mj-ea"/>
        <a:cs typeface="+mj-cs"/>
        <a:sym typeface="Aptos"/>
      </a:defRPr>
    </a:lvl2pPr>
    <a:lvl3pPr indent="457200" latinLnBrk="0">
      <a:defRPr sz="1200">
        <a:latin typeface="+mj-lt"/>
        <a:ea typeface="+mj-ea"/>
        <a:cs typeface="+mj-cs"/>
        <a:sym typeface="Aptos"/>
      </a:defRPr>
    </a:lvl3pPr>
    <a:lvl4pPr indent="685800" latinLnBrk="0">
      <a:defRPr sz="1200">
        <a:latin typeface="+mj-lt"/>
        <a:ea typeface="+mj-ea"/>
        <a:cs typeface="+mj-cs"/>
        <a:sym typeface="Aptos"/>
      </a:defRPr>
    </a:lvl4pPr>
    <a:lvl5pPr indent="914400" latinLnBrk="0">
      <a:defRPr sz="1200">
        <a:latin typeface="+mj-lt"/>
        <a:ea typeface="+mj-ea"/>
        <a:cs typeface="+mj-cs"/>
        <a:sym typeface="Aptos"/>
      </a:defRPr>
    </a:lvl5pPr>
    <a:lvl6pPr indent="1143000" latinLnBrk="0">
      <a:defRPr sz="1200">
        <a:latin typeface="+mj-lt"/>
        <a:ea typeface="+mj-ea"/>
        <a:cs typeface="+mj-cs"/>
        <a:sym typeface="Aptos"/>
      </a:defRPr>
    </a:lvl6pPr>
    <a:lvl7pPr indent="1371600" latinLnBrk="0">
      <a:defRPr sz="1200">
        <a:latin typeface="+mj-lt"/>
        <a:ea typeface="+mj-ea"/>
        <a:cs typeface="+mj-cs"/>
        <a:sym typeface="Aptos"/>
      </a:defRPr>
    </a:lvl7pPr>
    <a:lvl8pPr indent="1600200" latinLnBrk="0">
      <a:defRPr sz="1200">
        <a:latin typeface="+mj-lt"/>
        <a:ea typeface="+mj-ea"/>
        <a:cs typeface="+mj-cs"/>
        <a:sym typeface="Aptos"/>
      </a:defRPr>
    </a:lvl8pPr>
    <a:lvl9pPr indent="1828800" latinLnBrk="0">
      <a:defRPr sz="1200">
        <a:latin typeface="+mj-lt"/>
        <a:ea typeface="+mj-ea"/>
        <a:cs typeface="+mj-cs"/>
        <a:sym typeface="Aptos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609600" y="92074"/>
            <a:ext cx="10972800" cy="15081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609600" y="1600200"/>
            <a:ext cx="1097280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B2A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0"/>
          <p:cNvSpPr/>
          <p:nvPr/>
        </p:nvSpPr>
        <p:spPr>
          <a:xfrm>
            <a:off x="9692640" y="-1188720"/>
            <a:ext cx="3840481" cy="3840480"/>
          </a:xfrm>
          <a:prstGeom prst="ellipse">
            <a:avLst/>
          </a:prstGeom>
          <a:solidFill>
            <a:srgbClr val="065A82">
              <a:alpha val="45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1" name="Shape 1"/>
          <p:cNvSpPr/>
          <p:nvPr/>
        </p:nvSpPr>
        <p:spPr>
          <a:xfrm>
            <a:off x="10789919" y="548640"/>
            <a:ext cx="2377441" cy="2377440"/>
          </a:xfrm>
          <a:prstGeom prst="ellipse">
            <a:avLst/>
          </a:prstGeom>
          <a:solidFill>
            <a:srgbClr val="1C7293">
              <a:alpha val="60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22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22960" y="822960"/>
            <a:ext cx="566929" cy="566929"/>
          </a:xfrm>
          <a:prstGeom prst="rect">
            <a:avLst/>
          </a:prstGeom>
          <a:ln w="12700">
            <a:miter lim="400000"/>
          </a:ln>
        </p:spPr>
      </p:pic>
      <p:sp>
        <p:nvSpPr>
          <p:cNvPr id="23" name="Text 3"/>
          <p:cNvSpPr txBox="1"/>
          <p:nvPr/>
        </p:nvSpPr>
        <p:spPr>
          <a:xfrm>
            <a:off x="777240" y="2081530"/>
            <a:ext cx="9601201" cy="774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52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Environment Variables</a:t>
            </a:r>
          </a:p>
        </p:txBody>
      </p:sp>
      <p:sp>
        <p:nvSpPr>
          <p:cNvPr id="24" name="Text 4"/>
          <p:cNvSpPr txBox="1"/>
          <p:nvPr/>
        </p:nvSpPr>
        <p:spPr>
          <a:xfrm>
            <a:off x="822960" y="3228034"/>
            <a:ext cx="8686801" cy="2190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1700">
                <a:solidFill>
                  <a:srgbClr val="C9DCE5"/>
                </a:solidFill>
              </a:defRPr>
            </a:lvl1pPr>
          </a:lstStyle>
          <a:p>
            <a:pPr/>
            <a:r>
              <a:t>Keeping configuration out of code — set once, used everywhere</a:t>
            </a:r>
          </a:p>
        </p:txBody>
      </p:sp>
      <p:sp>
        <p:nvSpPr>
          <p:cNvPr id="25" name="Text 8"/>
          <p:cNvSpPr txBox="1"/>
          <p:nvPr/>
        </p:nvSpPr>
        <p:spPr>
          <a:xfrm>
            <a:off x="11277295" y="6542576"/>
            <a:ext cx="45720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000">
                <a:solidFill>
                  <a:srgbClr val="9FC2D1"/>
                </a:solidFill>
              </a:defRPr>
            </a:lvl1pPr>
          </a:lstStyle>
          <a:p>
            <a:pPr/>
            <a:r>
              <a:t>1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1"/>
          <p:cNvSpPr txBox="1"/>
          <p:nvPr/>
        </p:nvSpPr>
        <p:spPr>
          <a:xfrm>
            <a:off x="640080" y="886968"/>
            <a:ext cx="7772401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3000">
                <a:solidFill>
                  <a:srgbClr val="0B2A3D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What Is an Environment Variable?</a:t>
            </a:r>
          </a:p>
        </p:txBody>
      </p:sp>
      <p:sp>
        <p:nvSpPr>
          <p:cNvPr id="28" name="Text 2"/>
          <p:cNvSpPr txBox="1"/>
          <p:nvPr/>
        </p:nvSpPr>
        <p:spPr>
          <a:xfrm>
            <a:off x="640079" y="1600200"/>
            <a:ext cx="5120642" cy="444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1500">
                <a:solidFill>
                  <a:srgbClr val="1E293B"/>
                </a:solidFill>
              </a:defRPr>
            </a:pPr>
            <a:r>
              <a:t>A named </a:t>
            </a:r>
            <a:r>
              <a:rPr b="1">
                <a:solidFill>
                  <a:srgbClr val="065A82"/>
                </a:solidFill>
                <a:latin typeface="Courier New"/>
                <a:ea typeface="Courier New"/>
                <a:cs typeface="Courier New"/>
                <a:sym typeface="Courier New"/>
              </a:rPr>
              <a:t>KEY = VALUE</a:t>
            </a:r>
            <a:r>
              <a:t> pair stored by the operating system, outside your program's source code.</a:t>
            </a:r>
          </a:p>
        </p:txBody>
      </p:sp>
      <p:sp>
        <p:nvSpPr>
          <p:cNvPr id="29" name="Text 3"/>
          <p:cNvSpPr txBox="1"/>
          <p:nvPr/>
        </p:nvSpPr>
        <p:spPr>
          <a:xfrm>
            <a:off x="640079" y="3161600"/>
            <a:ext cx="5120642" cy="9005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marL="342900" indent="-342900">
              <a:spcBef>
                <a:spcPts val="1000"/>
              </a:spcBef>
              <a:buSzPct val="100000"/>
              <a:buChar char="•"/>
              <a:defRPr sz="1400">
                <a:solidFill>
                  <a:srgbClr val="1E293B"/>
                </a:solidFill>
              </a:defRPr>
            </a:pPr>
            <a:r>
              <a:t>Lives in the OS .</a:t>
            </a:r>
          </a:p>
          <a:p>
            <a:pPr marL="342900" indent="-342900">
              <a:spcBef>
                <a:spcPts val="1000"/>
              </a:spcBef>
              <a:buSzPct val="100000"/>
              <a:buChar char="•"/>
              <a:defRPr sz="1400">
                <a:solidFill>
                  <a:srgbClr val="1E293B"/>
                </a:solidFill>
              </a:defRPr>
            </a:pPr>
            <a:r>
              <a:t>Any process started after it's set can read it</a:t>
            </a:r>
          </a:p>
          <a:p>
            <a:pPr marL="342900" indent="-342900">
              <a:spcBef>
                <a:spcPts val="1000"/>
              </a:spcBef>
              <a:buSzPct val="100000"/>
              <a:buChar char="•"/>
              <a:defRPr sz="1400">
                <a:solidFill>
                  <a:srgbClr val="1E293B"/>
                </a:solidFill>
              </a:defRPr>
            </a:pPr>
            <a:r>
              <a:t>Used for settings that change between machines</a:t>
            </a:r>
          </a:p>
        </p:txBody>
      </p:sp>
      <p:sp>
        <p:nvSpPr>
          <p:cNvPr id="30" name="Shape 4"/>
          <p:cNvSpPr/>
          <p:nvPr/>
        </p:nvSpPr>
        <p:spPr>
          <a:xfrm>
            <a:off x="640080" y="4709159"/>
            <a:ext cx="5120641" cy="1417321"/>
          </a:xfrm>
          <a:prstGeom prst="roundRect">
            <a:avLst>
              <a:gd name="adj" fmla="val 5161"/>
            </a:avLst>
          </a:prstGeom>
          <a:solidFill>
            <a:srgbClr val="F1F6F8"/>
          </a:solidFill>
          <a:ln w="12700">
            <a:miter lim="400000"/>
          </a:ln>
          <a:effectLst>
            <a:outerShdw sx="100000" sy="100000" kx="0" ky="0" algn="b" rotWithShape="0" blurRad="101600" dist="38100" dir="2700000">
              <a:srgbClr val="0B2A3D">
                <a:alpha val="14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1" name="Text 5"/>
          <p:cNvSpPr txBox="1"/>
          <p:nvPr/>
        </p:nvSpPr>
        <p:spPr>
          <a:xfrm>
            <a:off x="868680" y="4934634"/>
            <a:ext cx="36576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150" sz="1100">
                <a:solidFill>
                  <a:srgbClr val="1C7293"/>
                </a:solidFill>
              </a:defRPr>
            </a:lvl1pPr>
          </a:lstStyle>
          <a:p>
            <a:pPr/>
            <a:r>
              <a:t>SIMPLE EXAMPLE</a:t>
            </a:r>
          </a:p>
        </p:txBody>
      </p:sp>
      <p:sp>
        <p:nvSpPr>
          <p:cNvPr id="32" name="Text 6"/>
          <p:cNvSpPr txBox="1"/>
          <p:nvPr/>
        </p:nvSpPr>
        <p:spPr>
          <a:xfrm>
            <a:off x="868679" y="5385747"/>
            <a:ext cx="4663442" cy="420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>
                <a:solidFill>
                  <a:srgbClr val="065A82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PATH</a:t>
            </a:r>
          </a:p>
          <a:p>
            <a:pPr>
              <a:defRPr sz="1300">
                <a:solidFill>
                  <a:srgbClr val="5B6B76"/>
                </a:solidFill>
              </a:defRPr>
            </a:pPr>
            <a:r>
              <a:t>Tells the OS where to look for programs</a:t>
            </a:r>
          </a:p>
        </p:txBody>
      </p:sp>
      <p:sp>
        <p:nvSpPr>
          <p:cNvPr id="33" name="Shape 7"/>
          <p:cNvSpPr/>
          <p:nvPr/>
        </p:nvSpPr>
        <p:spPr>
          <a:xfrm>
            <a:off x="6446520" y="1737360"/>
            <a:ext cx="5120641" cy="1234440"/>
          </a:xfrm>
          <a:prstGeom prst="roundRect">
            <a:avLst>
              <a:gd name="adj" fmla="val 6667"/>
            </a:avLst>
          </a:prstGeom>
          <a:solidFill>
            <a:srgbClr val="065A82"/>
          </a:solidFill>
          <a:ln w="12700">
            <a:miter lim="400000"/>
          </a:ln>
          <a:effectLst>
            <a:outerShdw sx="100000" sy="100000" kx="0" ky="0" algn="b" rotWithShape="0" blurRad="101600" dist="38100" dir="2700000">
              <a:srgbClr val="0B2A3D">
                <a:alpha val="14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pic>
        <p:nvPicPr>
          <p:cNvPr id="34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675119" y="2011679"/>
            <a:ext cx="502921" cy="502921"/>
          </a:xfrm>
          <a:prstGeom prst="rect">
            <a:avLst/>
          </a:prstGeom>
          <a:ln w="12700">
            <a:miter lim="400000"/>
          </a:ln>
        </p:spPr>
      </p:pic>
      <p:sp>
        <p:nvSpPr>
          <p:cNvPr id="35" name="Text 8"/>
          <p:cNvSpPr txBox="1"/>
          <p:nvPr/>
        </p:nvSpPr>
        <p:spPr>
          <a:xfrm>
            <a:off x="7315200" y="2184707"/>
            <a:ext cx="4069080" cy="3854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500">
                <a:solidFill>
                  <a:srgbClr val="FFFFFF"/>
                </a:solidFill>
              </a:defRPr>
            </a:pPr>
            <a:r>
              <a:t>Operating System</a:t>
            </a:r>
          </a:p>
          <a:p>
            <a:pPr>
              <a:defRPr sz="1200">
                <a:solidFill>
                  <a:srgbClr val="CFE4EC"/>
                </a:solidFill>
              </a:defRPr>
            </a:pPr>
            <a:r>
              <a:t>Holds the environment variable table</a:t>
            </a:r>
          </a:p>
        </p:txBody>
      </p:sp>
      <p:sp>
        <p:nvSpPr>
          <p:cNvPr id="36" name="Shape 9"/>
          <p:cNvSpPr/>
          <p:nvPr/>
        </p:nvSpPr>
        <p:spPr>
          <a:xfrm>
            <a:off x="9006840" y="2971799"/>
            <a:ext cx="1" cy="502921"/>
          </a:xfrm>
          <a:prstGeom prst="line">
            <a:avLst/>
          </a:prstGeom>
          <a:ln w="31750">
            <a:solidFill>
              <a:srgbClr val="1C7293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37" name="Shape 10"/>
          <p:cNvSpPr/>
          <p:nvPr/>
        </p:nvSpPr>
        <p:spPr>
          <a:xfrm>
            <a:off x="6446520" y="3520440"/>
            <a:ext cx="5120641" cy="1234441"/>
          </a:xfrm>
          <a:prstGeom prst="roundRect">
            <a:avLst>
              <a:gd name="adj" fmla="val 6667"/>
            </a:avLst>
          </a:prstGeom>
          <a:solidFill>
            <a:srgbClr val="1C7293"/>
          </a:solidFill>
          <a:ln w="12700">
            <a:miter lim="400000"/>
          </a:ln>
          <a:effectLst>
            <a:outerShdw sx="100000" sy="100000" kx="0" ky="0" algn="b" rotWithShape="0" blurRad="101600" dist="38100" dir="2700000">
              <a:srgbClr val="0B2A3D">
                <a:alpha val="14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pic>
        <p:nvPicPr>
          <p:cNvPr id="38" name="Image 1" descr="Image 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675119" y="3794759"/>
            <a:ext cx="502921" cy="502921"/>
          </a:xfrm>
          <a:prstGeom prst="rect">
            <a:avLst/>
          </a:prstGeom>
          <a:ln w="12700">
            <a:miter lim="400000"/>
          </a:ln>
        </p:spPr>
      </p:pic>
      <p:sp>
        <p:nvSpPr>
          <p:cNvPr id="39" name="Text 11"/>
          <p:cNvSpPr txBox="1"/>
          <p:nvPr/>
        </p:nvSpPr>
        <p:spPr>
          <a:xfrm>
            <a:off x="7315200" y="3967787"/>
            <a:ext cx="4069080" cy="3854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500">
                <a:solidFill>
                  <a:srgbClr val="FFFFFF"/>
                </a:solidFill>
              </a:defRPr>
            </a:pPr>
            <a:r>
              <a:t>Your Application</a:t>
            </a:r>
          </a:p>
          <a:p>
            <a:pPr>
              <a:defRPr sz="1200">
                <a:solidFill>
                  <a:srgbClr val="E3F1F5"/>
                </a:solidFill>
              </a:defRPr>
            </a:pPr>
            <a:r>
              <a:t>Reads the value it needs at startup</a:t>
            </a:r>
          </a:p>
        </p:txBody>
      </p:sp>
      <p:sp>
        <p:nvSpPr>
          <p:cNvPr id="40" name="Shape 12"/>
          <p:cNvSpPr/>
          <p:nvPr/>
        </p:nvSpPr>
        <p:spPr>
          <a:xfrm>
            <a:off x="6446520" y="5074920"/>
            <a:ext cx="5120641" cy="822961"/>
          </a:xfrm>
          <a:prstGeom prst="roundRect">
            <a:avLst>
              <a:gd name="adj" fmla="val 10000"/>
            </a:avLst>
          </a:prstGeom>
          <a:solidFill>
            <a:srgbClr val="F1F6F8"/>
          </a:solidFill>
          <a:ln w="12700">
            <a:solidFill>
              <a:srgbClr val="6FB7C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1" name="Text 13"/>
          <p:cNvSpPr txBox="1"/>
          <p:nvPr/>
        </p:nvSpPr>
        <p:spPr>
          <a:xfrm>
            <a:off x="6675119" y="5407967"/>
            <a:ext cx="466344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1200">
                <a:solidFill>
                  <a:srgbClr val="065A82"/>
                </a:solidFill>
              </a:defRPr>
            </a:lvl1pPr>
          </a:lstStyle>
          <a:p>
            <a:pPr/>
            <a:r>
              <a:t>No code change needed to update a value — just change the variable.</a:t>
            </a:r>
          </a:p>
        </p:txBody>
      </p:sp>
      <p:sp>
        <p:nvSpPr>
          <p:cNvPr id="42" name="Text 15"/>
          <p:cNvSpPr txBox="1"/>
          <p:nvPr/>
        </p:nvSpPr>
        <p:spPr>
          <a:xfrm>
            <a:off x="11277295" y="6542576"/>
            <a:ext cx="45720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000">
                <a:solidFill>
                  <a:srgbClr val="5B6B76"/>
                </a:solidFill>
              </a:defRPr>
            </a:lvl1pPr>
          </a:lstStyle>
          <a:p>
            <a:pPr/>
            <a:r>
              <a:t>2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 1"/>
          <p:cNvSpPr txBox="1"/>
          <p:nvPr/>
        </p:nvSpPr>
        <p:spPr>
          <a:xfrm>
            <a:off x="640080" y="886968"/>
            <a:ext cx="8229601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3000">
                <a:solidFill>
                  <a:srgbClr val="0B2A3D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Common Environment Variables</a:t>
            </a:r>
          </a:p>
        </p:txBody>
      </p:sp>
      <p:sp>
        <p:nvSpPr>
          <p:cNvPr id="45" name="Shape 3"/>
          <p:cNvSpPr/>
          <p:nvPr/>
        </p:nvSpPr>
        <p:spPr>
          <a:xfrm>
            <a:off x="914399" y="1897379"/>
            <a:ext cx="640082" cy="640081"/>
          </a:xfrm>
          <a:prstGeom prst="ellipse">
            <a:avLst/>
          </a:prstGeom>
          <a:solidFill>
            <a:srgbClr val="065A82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46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69847" y="2052827"/>
            <a:ext cx="329185" cy="329185"/>
          </a:xfrm>
          <a:prstGeom prst="rect">
            <a:avLst/>
          </a:prstGeom>
          <a:ln w="12700">
            <a:miter lim="400000"/>
          </a:ln>
        </p:spPr>
      </p:pic>
      <p:sp>
        <p:nvSpPr>
          <p:cNvPr id="47" name="Text 4"/>
          <p:cNvSpPr txBox="1"/>
          <p:nvPr/>
        </p:nvSpPr>
        <p:spPr>
          <a:xfrm>
            <a:off x="1874520" y="2103119"/>
            <a:ext cx="301752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600">
                <a:solidFill>
                  <a:srgbClr val="065A82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PATH</a:t>
            </a:r>
          </a:p>
        </p:txBody>
      </p:sp>
      <p:sp>
        <p:nvSpPr>
          <p:cNvPr id="48" name="Text 5"/>
          <p:cNvSpPr txBox="1"/>
          <p:nvPr/>
        </p:nvSpPr>
        <p:spPr>
          <a:xfrm>
            <a:off x="5029199" y="2122740"/>
            <a:ext cx="6309362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>
                <a:solidFill>
                  <a:srgbClr val="1E293B"/>
                </a:solidFill>
              </a:defRPr>
            </a:lvl1pPr>
          </a:lstStyle>
          <a:p>
            <a:pPr/>
            <a:r>
              <a:t>Locations the OS searches for executable programs</a:t>
            </a:r>
          </a:p>
        </p:txBody>
      </p:sp>
      <p:sp>
        <p:nvSpPr>
          <p:cNvPr id="49" name="Shape 7"/>
          <p:cNvSpPr/>
          <p:nvPr/>
        </p:nvSpPr>
        <p:spPr>
          <a:xfrm>
            <a:off x="914399" y="3086099"/>
            <a:ext cx="640082" cy="640082"/>
          </a:xfrm>
          <a:prstGeom prst="ellipse">
            <a:avLst/>
          </a:prstGeom>
          <a:solidFill>
            <a:srgbClr val="065A82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50" name="Image 1" descr="Image 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069847" y="3241548"/>
            <a:ext cx="329185" cy="329185"/>
          </a:xfrm>
          <a:prstGeom prst="rect">
            <a:avLst/>
          </a:prstGeom>
          <a:ln w="12700">
            <a:miter lim="400000"/>
          </a:ln>
        </p:spPr>
      </p:pic>
      <p:sp>
        <p:nvSpPr>
          <p:cNvPr id="51" name="Text 8"/>
          <p:cNvSpPr txBox="1"/>
          <p:nvPr/>
        </p:nvSpPr>
        <p:spPr>
          <a:xfrm>
            <a:off x="1874520" y="3291840"/>
            <a:ext cx="301752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600">
                <a:solidFill>
                  <a:srgbClr val="065A82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HOME / USERPROFILE</a:t>
            </a:r>
          </a:p>
        </p:txBody>
      </p:sp>
      <p:sp>
        <p:nvSpPr>
          <p:cNvPr id="52" name="Text 9"/>
          <p:cNvSpPr txBox="1"/>
          <p:nvPr/>
        </p:nvSpPr>
        <p:spPr>
          <a:xfrm>
            <a:off x="5029199" y="3311460"/>
            <a:ext cx="6309362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>
                <a:solidFill>
                  <a:srgbClr val="1E293B"/>
                </a:solidFill>
              </a:defRPr>
            </a:lvl1pPr>
          </a:lstStyle>
          <a:p>
            <a:pPr/>
            <a:r>
              <a:t>The current user's home directory</a:t>
            </a:r>
          </a:p>
        </p:txBody>
      </p:sp>
      <p:sp>
        <p:nvSpPr>
          <p:cNvPr id="53" name="Shape 15"/>
          <p:cNvSpPr/>
          <p:nvPr/>
        </p:nvSpPr>
        <p:spPr>
          <a:xfrm>
            <a:off x="956195" y="4334255"/>
            <a:ext cx="640082" cy="640081"/>
          </a:xfrm>
          <a:prstGeom prst="ellipse">
            <a:avLst/>
          </a:prstGeom>
          <a:solidFill>
            <a:srgbClr val="065A82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54" name="Image 3" descr="Image 3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11643" y="4487619"/>
            <a:ext cx="329185" cy="329185"/>
          </a:xfrm>
          <a:prstGeom prst="rect">
            <a:avLst/>
          </a:prstGeom>
          <a:ln w="12700">
            <a:miter lim="400000"/>
          </a:ln>
        </p:spPr>
      </p:pic>
      <p:sp>
        <p:nvSpPr>
          <p:cNvPr id="55" name="Text 16"/>
          <p:cNvSpPr txBox="1"/>
          <p:nvPr/>
        </p:nvSpPr>
        <p:spPr>
          <a:xfrm>
            <a:off x="1927935" y="4539995"/>
            <a:ext cx="3017522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600">
                <a:solidFill>
                  <a:srgbClr val="065A82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User</a:t>
            </a:r>
          </a:p>
        </p:txBody>
      </p:sp>
      <p:sp>
        <p:nvSpPr>
          <p:cNvPr id="56" name="Text 17"/>
          <p:cNvSpPr txBox="1"/>
          <p:nvPr/>
        </p:nvSpPr>
        <p:spPr>
          <a:xfrm>
            <a:off x="5029199" y="4573736"/>
            <a:ext cx="6309362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>
                <a:solidFill>
                  <a:srgbClr val="1E293B"/>
                </a:solidFill>
              </a:defRPr>
            </a:lvl1pPr>
          </a:lstStyle>
          <a:p>
            <a:pPr/>
            <a:r>
              <a:t>Stores the current user’s name</a:t>
            </a:r>
          </a:p>
        </p:txBody>
      </p:sp>
      <p:sp>
        <p:nvSpPr>
          <p:cNvPr id="57" name="Text 19"/>
          <p:cNvSpPr txBox="1"/>
          <p:nvPr/>
        </p:nvSpPr>
        <p:spPr>
          <a:xfrm>
            <a:off x="11277295" y="6542576"/>
            <a:ext cx="45720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000">
                <a:solidFill>
                  <a:srgbClr val="5B6B76"/>
                </a:solidFill>
              </a:defRPr>
            </a:lvl1pPr>
          </a:lstStyle>
          <a:p>
            <a:pPr/>
            <a:r>
              <a:t>3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Text 1"/>
          <p:cNvSpPr txBox="1"/>
          <p:nvPr/>
        </p:nvSpPr>
        <p:spPr>
          <a:xfrm>
            <a:off x="640080" y="906018"/>
            <a:ext cx="9144001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800">
                <a:solidFill>
                  <a:srgbClr val="0B2A3D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Scope &amp; Lifetime of Environment Variables</a:t>
            </a:r>
          </a:p>
        </p:txBody>
      </p:sp>
      <p:sp>
        <p:nvSpPr>
          <p:cNvPr id="60" name="Shape 2"/>
          <p:cNvSpPr/>
          <p:nvPr/>
        </p:nvSpPr>
        <p:spPr>
          <a:xfrm>
            <a:off x="640080" y="1737360"/>
            <a:ext cx="5257801" cy="1874521"/>
          </a:xfrm>
          <a:prstGeom prst="roundRect">
            <a:avLst>
              <a:gd name="adj" fmla="val 4878"/>
            </a:avLst>
          </a:prstGeom>
          <a:solidFill>
            <a:srgbClr val="F1F6F8"/>
          </a:solidFill>
          <a:ln w="12700">
            <a:miter lim="400000"/>
          </a:ln>
          <a:effectLst>
            <a:outerShdw sx="100000" sy="100000" kx="0" ky="0" algn="b" rotWithShape="0" blurRad="101600" dist="38100" dir="2700000">
              <a:srgbClr val="0B2A3D">
                <a:alpha val="14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1" name="Shape 3"/>
          <p:cNvSpPr/>
          <p:nvPr/>
        </p:nvSpPr>
        <p:spPr>
          <a:xfrm>
            <a:off x="914400" y="2011679"/>
            <a:ext cx="109729" cy="1325881"/>
          </a:xfrm>
          <a:prstGeom prst="roundRect">
            <a:avLst>
              <a:gd name="adj" fmla="val 16667"/>
            </a:avLst>
          </a:prstGeom>
          <a:solidFill>
            <a:srgbClr val="065A82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2" name="Text 4"/>
          <p:cNvSpPr txBox="1"/>
          <p:nvPr/>
        </p:nvSpPr>
        <p:spPr>
          <a:xfrm>
            <a:off x="1188719" y="2072132"/>
            <a:ext cx="4434842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700">
                <a:solidFill>
                  <a:srgbClr val="0B2A3D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User-Level</a:t>
            </a:r>
          </a:p>
        </p:txBody>
      </p:sp>
      <p:sp>
        <p:nvSpPr>
          <p:cNvPr id="63" name="Text 5"/>
          <p:cNvSpPr txBox="1"/>
          <p:nvPr/>
        </p:nvSpPr>
        <p:spPr>
          <a:xfrm>
            <a:off x="1188719" y="2847271"/>
            <a:ext cx="4434842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5B6B76"/>
                </a:solidFill>
              </a:defRPr>
            </a:lvl1pPr>
          </a:lstStyle>
          <a:p>
            <a:pPr/>
            <a:r>
              <a:t>Available only to the current user's sessions and processes</a:t>
            </a:r>
          </a:p>
        </p:txBody>
      </p:sp>
      <p:sp>
        <p:nvSpPr>
          <p:cNvPr id="64" name="Shape 6"/>
          <p:cNvSpPr/>
          <p:nvPr/>
        </p:nvSpPr>
        <p:spPr>
          <a:xfrm>
            <a:off x="6263640" y="1737360"/>
            <a:ext cx="5257801" cy="1874521"/>
          </a:xfrm>
          <a:prstGeom prst="roundRect">
            <a:avLst>
              <a:gd name="adj" fmla="val 4878"/>
            </a:avLst>
          </a:prstGeom>
          <a:solidFill>
            <a:srgbClr val="F1F6F8"/>
          </a:solidFill>
          <a:ln w="12700">
            <a:miter lim="400000"/>
          </a:ln>
          <a:effectLst>
            <a:outerShdw sx="100000" sy="100000" kx="0" ky="0" algn="b" rotWithShape="0" blurRad="101600" dist="38100" dir="2700000">
              <a:srgbClr val="0B2A3D">
                <a:alpha val="14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5" name="Shape 7"/>
          <p:cNvSpPr/>
          <p:nvPr/>
        </p:nvSpPr>
        <p:spPr>
          <a:xfrm>
            <a:off x="6537959" y="2011679"/>
            <a:ext cx="109729" cy="1325881"/>
          </a:xfrm>
          <a:prstGeom prst="roundRect">
            <a:avLst>
              <a:gd name="adj" fmla="val 16667"/>
            </a:avLst>
          </a:prstGeom>
          <a:solidFill>
            <a:srgbClr val="1C7293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6" name="Text 8"/>
          <p:cNvSpPr txBox="1"/>
          <p:nvPr/>
        </p:nvSpPr>
        <p:spPr>
          <a:xfrm>
            <a:off x="6812280" y="2072132"/>
            <a:ext cx="4434841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700">
                <a:solidFill>
                  <a:srgbClr val="0B2A3D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System-Level</a:t>
            </a:r>
          </a:p>
        </p:txBody>
      </p:sp>
      <p:sp>
        <p:nvSpPr>
          <p:cNvPr id="67" name="Text 9"/>
          <p:cNvSpPr txBox="1"/>
          <p:nvPr/>
        </p:nvSpPr>
        <p:spPr>
          <a:xfrm>
            <a:off x="6812280" y="2847271"/>
            <a:ext cx="4434841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5B6B76"/>
                </a:solidFill>
              </a:defRPr>
            </a:lvl1pPr>
          </a:lstStyle>
          <a:p>
            <a:pPr/>
            <a:r>
              <a:t>Available to every user and process on the machine</a:t>
            </a:r>
          </a:p>
        </p:txBody>
      </p:sp>
      <p:sp>
        <p:nvSpPr>
          <p:cNvPr id="68" name="Shape 10"/>
          <p:cNvSpPr/>
          <p:nvPr/>
        </p:nvSpPr>
        <p:spPr>
          <a:xfrm>
            <a:off x="640080" y="3931920"/>
            <a:ext cx="5257801" cy="1874521"/>
          </a:xfrm>
          <a:prstGeom prst="roundRect">
            <a:avLst>
              <a:gd name="adj" fmla="val 4878"/>
            </a:avLst>
          </a:prstGeom>
          <a:solidFill>
            <a:srgbClr val="F1F6F8"/>
          </a:solidFill>
          <a:ln w="12700">
            <a:miter lim="400000"/>
          </a:ln>
          <a:effectLst>
            <a:outerShdw sx="100000" sy="100000" kx="0" ky="0" algn="b" rotWithShape="0" blurRad="101600" dist="38100" dir="2700000">
              <a:srgbClr val="0B2A3D">
                <a:alpha val="14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9" name="Shape 11"/>
          <p:cNvSpPr/>
          <p:nvPr/>
        </p:nvSpPr>
        <p:spPr>
          <a:xfrm>
            <a:off x="914400" y="4206240"/>
            <a:ext cx="109729" cy="1325881"/>
          </a:xfrm>
          <a:prstGeom prst="roundRect">
            <a:avLst>
              <a:gd name="adj" fmla="val 16667"/>
            </a:avLst>
          </a:prstGeom>
          <a:solidFill>
            <a:srgbClr val="065A82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0" name="Text 12"/>
          <p:cNvSpPr txBox="1"/>
          <p:nvPr/>
        </p:nvSpPr>
        <p:spPr>
          <a:xfrm>
            <a:off x="1188719" y="4266692"/>
            <a:ext cx="4434842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700">
                <a:solidFill>
                  <a:srgbClr val="0B2A3D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Temporary (Session)</a:t>
            </a:r>
          </a:p>
        </p:txBody>
      </p:sp>
      <p:sp>
        <p:nvSpPr>
          <p:cNvPr id="71" name="Text 13"/>
          <p:cNvSpPr txBox="1"/>
          <p:nvPr/>
        </p:nvSpPr>
        <p:spPr>
          <a:xfrm>
            <a:off x="1188719" y="5041831"/>
            <a:ext cx="4434842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5B6B76"/>
                </a:solidFill>
              </a:defRPr>
            </a:lvl1pPr>
          </a:lstStyle>
          <a:p>
            <a:pPr/>
            <a:r>
              <a:t>Set in a terminal — disappears once that session closes</a:t>
            </a:r>
          </a:p>
        </p:txBody>
      </p:sp>
      <p:sp>
        <p:nvSpPr>
          <p:cNvPr id="72" name="Shape 14"/>
          <p:cNvSpPr/>
          <p:nvPr/>
        </p:nvSpPr>
        <p:spPr>
          <a:xfrm>
            <a:off x="6263640" y="3931920"/>
            <a:ext cx="5257801" cy="1874521"/>
          </a:xfrm>
          <a:prstGeom prst="roundRect">
            <a:avLst>
              <a:gd name="adj" fmla="val 4878"/>
            </a:avLst>
          </a:prstGeom>
          <a:solidFill>
            <a:srgbClr val="F1F6F8"/>
          </a:solidFill>
          <a:ln w="12700">
            <a:miter lim="400000"/>
          </a:ln>
          <a:effectLst>
            <a:outerShdw sx="100000" sy="100000" kx="0" ky="0" algn="b" rotWithShape="0" blurRad="101600" dist="38100" dir="2700000">
              <a:srgbClr val="0B2A3D">
                <a:alpha val="14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3" name="Shape 15"/>
          <p:cNvSpPr/>
          <p:nvPr/>
        </p:nvSpPr>
        <p:spPr>
          <a:xfrm>
            <a:off x="6537959" y="4206240"/>
            <a:ext cx="109729" cy="1325881"/>
          </a:xfrm>
          <a:prstGeom prst="roundRect">
            <a:avLst>
              <a:gd name="adj" fmla="val 16667"/>
            </a:avLst>
          </a:prstGeom>
          <a:solidFill>
            <a:srgbClr val="1C7293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4" name="Text 16"/>
          <p:cNvSpPr txBox="1"/>
          <p:nvPr/>
        </p:nvSpPr>
        <p:spPr>
          <a:xfrm>
            <a:off x="6812280" y="4266692"/>
            <a:ext cx="4434841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700">
                <a:solidFill>
                  <a:srgbClr val="0B2A3D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Permanent</a:t>
            </a:r>
          </a:p>
        </p:txBody>
      </p:sp>
      <p:sp>
        <p:nvSpPr>
          <p:cNvPr id="75" name="Text 17"/>
          <p:cNvSpPr txBox="1"/>
          <p:nvPr/>
        </p:nvSpPr>
        <p:spPr>
          <a:xfrm>
            <a:off x="6812280" y="5041831"/>
            <a:ext cx="4434841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5B6B76"/>
                </a:solidFill>
              </a:defRPr>
            </a:lvl1pPr>
          </a:lstStyle>
          <a:p>
            <a:pPr/>
            <a:r>
              <a:t>Saved to config files or system settings — survives restarts</a:t>
            </a:r>
          </a:p>
        </p:txBody>
      </p:sp>
      <p:sp>
        <p:nvSpPr>
          <p:cNvPr id="76" name="Text 19"/>
          <p:cNvSpPr txBox="1"/>
          <p:nvPr/>
        </p:nvSpPr>
        <p:spPr>
          <a:xfrm>
            <a:off x="11277295" y="6542576"/>
            <a:ext cx="45720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000">
                <a:solidFill>
                  <a:srgbClr val="5B6B76"/>
                </a:solidFill>
              </a:defRPr>
            </a:lvl1pPr>
          </a:lstStyle>
          <a:p>
            <a:pPr/>
            <a:r>
              <a:t>5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Text 1"/>
          <p:cNvSpPr txBox="1"/>
          <p:nvPr/>
        </p:nvSpPr>
        <p:spPr>
          <a:xfrm>
            <a:off x="640080" y="906018"/>
            <a:ext cx="9144001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800">
                <a:solidFill>
                  <a:srgbClr val="0B2A3D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How an Application Reads a Variable</a:t>
            </a:r>
          </a:p>
        </p:txBody>
      </p:sp>
      <p:sp>
        <p:nvSpPr>
          <p:cNvPr id="79" name="Shape 2"/>
          <p:cNvSpPr/>
          <p:nvPr/>
        </p:nvSpPr>
        <p:spPr>
          <a:xfrm>
            <a:off x="685800" y="2377439"/>
            <a:ext cx="2331721" cy="1554481"/>
          </a:xfrm>
          <a:prstGeom prst="roundRect">
            <a:avLst>
              <a:gd name="adj" fmla="val 5882"/>
            </a:avLst>
          </a:prstGeom>
          <a:solidFill>
            <a:srgbClr val="065A82"/>
          </a:solidFill>
          <a:ln w="12700">
            <a:miter lim="400000"/>
          </a:ln>
          <a:effectLst>
            <a:outerShdw sx="100000" sy="100000" kx="0" ky="0" algn="b" rotWithShape="0" blurRad="101600" dist="38100" dir="2700000">
              <a:srgbClr val="0B2A3D">
                <a:alpha val="14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0" name="Text 3"/>
          <p:cNvSpPr txBox="1"/>
          <p:nvPr/>
        </p:nvSpPr>
        <p:spPr>
          <a:xfrm>
            <a:off x="868679" y="2640837"/>
            <a:ext cx="1965962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6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1. Set</a:t>
            </a:r>
          </a:p>
        </p:txBody>
      </p:sp>
      <p:sp>
        <p:nvSpPr>
          <p:cNvPr id="81" name="Text 4"/>
          <p:cNvSpPr txBox="1"/>
          <p:nvPr/>
        </p:nvSpPr>
        <p:spPr>
          <a:xfrm>
            <a:off x="868679" y="3332279"/>
            <a:ext cx="1965962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E3F1F5"/>
                </a:solidFill>
              </a:defRPr>
            </a:lvl1pPr>
          </a:lstStyle>
          <a:p>
            <a:pPr/>
            <a:r>
              <a:t>Variable defined in OS / shell</a:t>
            </a:r>
          </a:p>
        </p:txBody>
      </p:sp>
      <p:sp>
        <p:nvSpPr>
          <p:cNvPr id="82" name="Shape 5"/>
          <p:cNvSpPr/>
          <p:nvPr/>
        </p:nvSpPr>
        <p:spPr>
          <a:xfrm>
            <a:off x="3017520" y="3154679"/>
            <a:ext cx="502920" cy="1"/>
          </a:xfrm>
          <a:prstGeom prst="line">
            <a:avLst/>
          </a:prstGeom>
          <a:ln w="31750">
            <a:solidFill>
              <a:srgbClr val="5B6B76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83" name="Shape 6"/>
          <p:cNvSpPr/>
          <p:nvPr/>
        </p:nvSpPr>
        <p:spPr>
          <a:xfrm>
            <a:off x="3520440" y="2377439"/>
            <a:ext cx="2331721" cy="1554481"/>
          </a:xfrm>
          <a:prstGeom prst="roundRect">
            <a:avLst>
              <a:gd name="adj" fmla="val 5882"/>
            </a:avLst>
          </a:prstGeom>
          <a:solidFill>
            <a:srgbClr val="1C7293"/>
          </a:solidFill>
          <a:ln w="12700">
            <a:miter lim="400000"/>
          </a:ln>
          <a:effectLst>
            <a:outerShdw sx="100000" sy="100000" kx="0" ky="0" algn="b" rotWithShape="0" blurRad="101600" dist="38100" dir="2700000">
              <a:srgbClr val="0B2A3D">
                <a:alpha val="14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4" name="Text 7"/>
          <p:cNvSpPr txBox="1"/>
          <p:nvPr/>
        </p:nvSpPr>
        <p:spPr>
          <a:xfrm>
            <a:off x="3703320" y="2640837"/>
            <a:ext cx="1965961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6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2. Launch</a:t>
            </a:r>
          </a:p>
        </p:txBody>
      </p:sp>
      <p:sp>
        <p:nvSpPr>
          <p:cNvPr id="85" name="Text 8"/>
          <p:cNvSpPr txBox="1"/>
          <p:nvPr/>
        </p:nvSpPr>
        <p:spPr>
          <a:xfrm>
            <a:off x="3703320" y="3237029"/>
            <a:ext cx="1965961" cy="3473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E3F1F5"/>
                </a:solidFill>
              </a:defRPr>
            </a:lvl1pPr>
          </a:lstStyle>
          <a:p>
            <a:pPr/>
            <a:r>
              <a:t>Process starts, inherits the environment</a:t>
            </a:r>
          </a:p>
        </p:txBody>
      </p:sp>
      <p:sp>
        <p:nvSpPr>
          <p:cNvPr id="86" name="Shape 9"/>
          <p:cNvSpPr/>
          <p:nvPr/>
        </p:nvSpPr>
        <p:spPr>
          <a:xfrm>
            <a:off x="5852159" y="3154679"/>
            <a:ext cx="502920" cy="1"/>
          </a:xfrm>
          <a:prstGeom prst="line">
            <a:avLst/>
          </a:prstGeom>
          <a:ln w="31750">
            <a:solidFill>
              <a:srgbClr val="5B6B76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87" name="Shape 10"/>
          <p:cNvSpPr/>
          <p:nvPr/>
        </p:nvSpPr>
        <p:spPr>
          <a:xfrm>
            <a:off x="6355079" y="2377439"/>
            <a:ext cx="2331721" cy="1554481"/>
          </a:xfrm>
          <a:prstGeom prst="roundRect">
            <a:avLst>
              <a:gd name="adj" fmla="val 5882"/>
            </a:avLst>
          </a:prstGeom>
          <a:solidFill>
            <a:srgbClr val="065A82"/>
          </a:solidFill>
          <a:ln w="12700">
            <a:miter lim="400000"/>
          </a:ln>
          <a:effectLst>
            <a:outerShdw sx="100000" sy="100000" kx="0" ky="0" algn="b" rotWithShape="0" blurRad="101600" dist="38100" dir="2700000">
              <a:srgbClr val="0B2A3D">
                <a:alpha val="14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8" name="Text 11"/>
          <p:cNvSpPr txBox="1"/>
          <p:nvPr/>
        </p:nvSpPr>
        <p:spPr>
          <a:xfrm>
            <a:off x="6537959" y="2640837"/>
            <a:ext cx="1965961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6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3. Read</a:t>
            </a:r>
          </a:p>
        </p:txBody>
      </p:sp>
      <p:sp>
        <p:nvSpPr>
          <p:cNvPr id="89" name="Text 12"/>
          <p:cNvSpPr txBox="1"/>
          <p:nvPr/>
        </p:nvSpPr>
        <p:spPr>
          <a:xfrm>
            <a:off x="6537959" y="3237029"/>
            <a:ext cx="1965961" cy="3473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E3F1F5"/>
                </a:solidFill>
              </a:defRPr>
            </a:lvl1pPr>
          </a:lstStyle>
          <a:p>
            <a:pPr/>
            <a:r>
              <a:t>Code calls process.env or os.environ</a:t>
            </a:r>
          </a:p>
        </p:txBody>
      </p:sp>
      <p:sp>
        <p:nvSpPr>
          <p:cNvPr id="90" name="Shape 13"/>
          <p:cNvSpPr/>
          <p:nvPr/>
        </p:nvSpPr>
        <p:spPr>
          <a:xfrm>
            <a:off x="8686799" y="3154679"/>
            <a:ext cx="502921" cy="1"/>
          </a:xfrm>
          <a:prstGeom prst="line">
            <a:avLst/>
          </a:prstGeom>
          <a:ln w="31750">
            <a:solidFill>
              <a:srgbClr val="5B6B76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91" name="Shape 14"/>
          <p:cNvSpPr/>
          <p:nvPr/>
        </p:nvSpPr>
        <p:spPr>
          <a:xfrm>
            <a:off x="9189719" y="2377439"/>
            <a:ext cx="2331721" cy="1554481"/>
          </a:xfrm>
          <a:prstGeom prst="roundRect">
            <a:avLst>
              <a:gd name="adj" fmla="val 5882"/>
            </a:avLst>
          </a:prstGeom>
          <a:solidFill>
            <a:srgbClr val="1C7293"/>
          </a:solidFill>
          <a:ln w="12700">
            <a:miter lim="400000"/>
          </a:ln>
          <a:effectLst>
            <a:outerShdw sx="100000" sy="100000" kx="0" ky="0" algn="b" rotWithShape="0" blurRad="101600" dist="38100" dir="2700000">
              <a:srgbClr val="0B2A3D">
                <a:alpha val="14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2" name="Text 15"/>
          <p:cNvSpPr txBox="1"/>
          <p:nvPr/>
        </p:nvSpPr>
        <p:spPr>
          <a:xfrm>
            <a:off x="9372599" y="2640837"/>
            <a:ext cx="1965962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6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4. Use</a:t>
            </a:r>
          </a:p>
        </p:txBody>
      </p:sp>
      <p:sp>
        <p:nvSpPr>
          <p:cNvPr id="93" name="Text 16"/>
          <p:cNvSpPr txBox="1"/>
          <p:nvPr/>
        </p:nvSpPr>
        <p:spPr>
          <a:xfrm>
            <a:off x="9372599" y="3332279"/>
            <a:ext cx="1965962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E3F1F5"/>
                </a:solidFill>
              </a:defRPr>
            </a:lvl1pPr>
          </a:lstStyle>
          <a:p>
            <a:pPr/>
            <a:r>
              <a:t>Value configures app behavior</a:t>
            </a:r>
          </a:p>
        </p:txBody>
      </p:sp>
      <p:sp>
        <p:nvSpPr>
          <p:cNvPr id="94" name="Text 21"/>
          <p:cNvSpPr txBox="1"/>
          <p:nvPr/>
        </p:nvSpPr>
        <p:spPr>
          <a:xfrm>
            <a:off x="11277295" y="6542576"/>
            <a:ext cx="45720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000">
                <a:solidFill>
                  <a:srgbClr val="5B6B76"/>
                </a:solidFill>
              </a:defRPr>
            </a:lvl1pPr>
          </a:lstStyle>
          <a:p>
            <a:pPr/>
            <a:r>
              <a:t>6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Text 1"/>
          <p:cNvSpPr txBox="1"/>
          <p:nvPr/>
        </p:nvSpPr>
        <p:spPr>
          <a:xfrm>
            <a:off x="640080" y="886968"/>
            <a:ext cx="8229601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3000">
                <a:solidFill>
                  <a:srgbClr val="0B2A3D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Advantages &amp; Disadvantages</a:t>
            </a:r>
          </a:p>
        </p:txBody>
      </p:sp>
      <p:sp>
        <p:nvSpPr>
          <p:cNvPr id="97" name="Shape 2"/>
          <p:cNvSpPr/>
          <p:nvPr/>
        </p:nvSpPr>
        <p:spPr>
          <a:xfrm>
            <a:off x="640080" y="1691639"/>
            <a:ext cx="5257801" cy="4617722"/>
          </a:xfrm>
          <a:prstGeom prst="roundRect">
            <a:avLst>
              <a:gd name="adj" fmla="val 1980"/>
            </a:avLst>
          </a:prstGeom>
          <a:solidFill>
            <a:srgbClr val="F1F6F8"/>
          </a:solidFill>
          <a:ln w="12700">
            <a:miter lim="400000"/>
          </a:ln>
          <a:effectLst>
            <a:outerShdw sx="100000" sy="100000" kx="0" ky="0" algn="b" rotWithShape="0" blurRad="101600" dist="38100" dir="2700000">
              <a:srgbClr val="0B2A3D">
                <a:alpha val="14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pic>
        <p:nvPicPr>
          <p:cNvPr id="98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60119" y="1965960"/>
            <a:ext cx="457201" cy="457201"/>
          </a:xfrm>
          <a:prstGeom prst="rect">
            <a:avLst/>
          </a:prstGeom>
          <a:ln w="12700">
            <a:miter lim="400000"/>
          </a:ln>
        </p:spPr>
      </p:pic>
      <p:sp>
        <p:nvSpPr>
          <p:cNvPr id="99" name="Text 3"/>
          <p:cNvSpPr txBox="1"/>
          <p:nvPr/>
        </p:nvSpPr>
        <p:spPr>
          <a:xfrm>
            <a:off x="1554480" y="2048510"/>
            <a:ext cx="3657601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000">
                <a:solidFill>
                  <a:srgbClr val="065A82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Advantages</a:t>
            </a:r>
          </a:p>
        </p:txBody>
      </p:sp>
      <p:sp>
        <p:nvSpPr>
          <p:cNvPr id="100" name="Text 4"/>
          <p:cNvSpPr txBox="1"/>
          <p:nvPr/>
        </p:nvSpPr>
        <p:spPr>
          <a:xfrm>
            <a:off x="1005840" y="3525958"/>
            <a:ext cx="4526280" cy="1589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marL="342900" indent="-342900">
              <a:spcBef>
                <a:spcPts val="1200"/>
              </a:spcBef>
              <a:buSzPct val="100000"/>
              <a:buChar char="•"/>
              <a:defRPr sz="1300">
                <a:solidFill>
                  <a:srgbClr val="1E293B"/>
                </a:solidFill>
              </a:defRPr>
            </a:pPr>
            <a:r>
              <a:t>Keeps secrets and config out of source code</a:t>
            </a:r>
          </a:p>
          <a:p>
            <a:pPr marL="342900" indent="-342900">
              <a:spcBef>
                <a:spcPts val="1200"/>
              </a:spcBef>
              <a:buSzPct val="100000"/>
              <a:buChar char="•"/>
              <a:defRPr sz="1300">
                <a:solidFill>
                  <a:srgbClr val="1E293B"/>
                </a:solidFill>
              </a:defRPr>
            </a:pPr>
            <a:r>
              <a:t>Same code runs across dev and production</a:t>
            </a:r>
          </a:p>
          <a:p>
            <a:pPr marL="342900" indent="-342900">
              <a:spcBef>
                <a:spcPts val="1200"/>
              </a:spcBef>
              <a:buSzPct val="100000"/>
              <a:buChar char="•"/>
              <a:defRPr sz="1300">
                <a:solidFill>
                  <a:srgbClr val="1E293B"/>
                </a:solidFill>
              </a:defRPr>
            </a:pPr>
            <a:r>
              <a:t>Easy to change without redeploying code</a:t>
            </a:r>
          </a:p>
          <a:p>
            <a:pPr marL="342900" indent="-342900">
              <a:spcBef>
                <a:spcPts val="1200"/>
              </a:spcBef>
              <a:buSzPct val="100000"/>
              <a:buChar char="•"/>
              <a:defRPr sz="1300">
                <a:solidFill>
                  <a:srgbClr val="1E293B"/>
                </a:solidFill>
              </a:defRPr>
            </a:pPr>
            <a:r>
              <a:t>Supported by every language and platform</a:t>
            </a:r>
          </a:p>
          <a:p>
            <a:pPr marL="342900" indent="-342900">
              <a:spcBef>
                <a:spcPts val="1200"/>
              </a:spcBef>
              <a:buSzPct val="100000"/>
              <a:buChar char="•"/>
              <a:defRPr sz="1300">
                <a:solidFill>
                  <a:srgbClr val="1E293B"/>
                </a:solidFill>
              </a:defRPr>
            </a:pPr>
            <a:r>
              <a:t>Works well with containers (Docker) and cloud platforms</a:t>
            </a:r>
          </a:p>
        </p:txBody>
      </p:sp>
      <p:sp>
        <p:nvSpPr>
          <p:cNvPr id="101" name="Shape 5"/>
          <p:cNvSpPr/>
          <p:nvPr/>
        </p:nvSpPr>
        <p:spPr>
          <a:xfrm>
            <a:off x="6263640" y="1691639"/>
            <a:ext cx="5257801" cy="4617722"/>
          </a:xfrm>
          <a:prstGeom prst="roundRect">
            <a:avLst>
              <a:gd name="adj" fmla="val 1980"/>
            </a:avLst>
          </a:prstGeom>
          <a:solidFill>
            <a:srgbClr val="F1F6F8"/>
          </a:solidFill>
          <a:ln w="12700">
            <a:miter lim="400000"/>
          </a:ln>
          <a:effectLst>
            <a:outerShdw sx="100000" sy="100000" kx="0" ky="0" algn="b" rotWithShape="0" blurRad="101600" dist="38100" dir="2700000">
              <a:srgbClr val="0B2A3D">
                <a:alpha val="14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pic>
        <p:nvPicPr>
          <p:cNvPr id="102" name="Image 1" descr="Image 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583680" y="1965960"/>
            <a:ext cx="457201" cy="457201"/>
          </a:xfrm>
          <a:prstGeom prst="rect">
            <a:avLst/>
          </a:prstGeom>
          <a:ln w="12700">
            <a:miter lim="400000"/>
          </a:ln>
        </p:spPr>
      </p:pic>
      <p:sp>
        <p:nvSpPr>
          <p:cNvPr id="103" name="Text 6"/>
          <p:cNvSpPr txBox="1"/>
          <p:nvPr/>
        </p:nvSpPr>
        <p:spPr>
          <a:xfrm>
            <a:off x="7178040" y="2048510"/>
            <a:ext cx="3657601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000">
                <a:solidFill>
                  <a:srgbClr val="065A82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Disadvantages</a:t>
            </a:r>
          </a:p>
        </p:txBody>
      </p:sp>
      <p:sp>
        <p:nvSpPr>
          <p:cNvPr id="104" name="Text 7"/>
          <p:cNvSpPr txBox="1"/>
          <p:nvPr/>
        </p:nvSpPr>
        <p:spPr>
          <a:xfrm>
            <a:off x="6629400" y="3525958"/>
            <a:ext cx="4526280" cy="1589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marL="342900" indent="-342900">
              <a:spcBef>
                <a:spcPts val="1200"/>
              </a:spcBef>
              <a:buSzPct val="100000"/>
              <a:buChar char="•"/>
              <a:defRPr sz="1300">
                <a:solidFill>
                  <a:srgbClr val="1E293B"/>
                </a:solidFill>
              </a:defRPr>
            </a:pPr>
            <a:r>
              <a:t>Stored as plain text — visible to anyone with process access</a:t>
            </a:r>
          </a:p>
          <a:p>
            <a:pPr marL="342900" indent="-342900">
              <a:spcBef>
                <a:spcPts val="1200"/>
              </a:spcBef>
              <a:buSzPct val="100000"/>
              <a:buChar char="•"/>
              <a:defRPr sz="1300">
                <a:solidFill>
                  <a:srgbClr val="1E293B"/>
                </a:solidFill>
              </a:defRPr>
            </a:pPr>
            <a:r>
              <a:t>Easy to mistype names;  fail silently</a:t>
            </a:r>
          </a:p>
          <a:p>
            <a:pPr marL="342900" indent="-342900">
              <a:spcBef>
                <a:spcPts val="1200"/>
              </a:spcBef>
              <a:buSzPct val="100000"/>
              <a:buChar char="•"/>
              <a:defRPr sz="1300">
                <a:solidFill>
                  <a:srgbClr val="1E293B"/>
                </a:solidFill>
              </a:defRPr>
            </a:pPr>
            <a:r>
              <a:t>No built-in type checking (everything is a string)</a:t>
            </a:r>
          </a:p>
          <a:p>
            <a:pPr marL="342900" indent="-342900">
              <a:spcBef>
                <a:spcPts val="1200"/>
              </a:spcBef>
              <a:buSzPct val="100000"/>
              <a:buChar char="•"/>
              <a:defRPr sz="1300">
                <a:solidFill>
                  <a:srgbClr val="1E293B"/>
                </a:solidFill>
              </a:defRPr>
            </a:pPr>
            <a:r>
              <a:t>Can be hard to track across many services</a:t>
            </a:r>
          </a:p>
          <a:p>
            <a:pPr marL="342900" indent="-342900">
              <a:spcBef>
                <a:spcPts val="1200"/>
              </a:spcBef>
              <a:buSzPct val="100000"/>
              <a:buChar char="•"/>
              <a:defRPr sz="1300">
                <a:solidFill>
                  <a:srgbClr val="1E293B"/>
                </a:solidFill>
              </a:defRPr>
            </a:pPr>
            <a:r>
              <a:t>Values differ by machine, which can cause setup issues</a:t>
            </a:r>
          </a:p>
        </p:txBody>
      </p:sp>
      <p:sp>
        <p:nvSpPr>
          <p:cNvPr id="105" name="Text 9"/>
          <p:cNvSpPr txBox="1"/>
          <p:nvPr/>
        </p:nvSpPr>
        <p:spPr>
          <a:xfrm>
            <a:off x="11277295" y="6542576"/>
            <a:ext cx="45720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000">
                <a:solidFill>
                  <a:srgbClr val="5B6B76"/>
                </a:solidFill>
              </a:defRPr>
            </a:lvl1pPr>
          </a:lstStyle>
          <a:p>
            <a:pPr/>
            <a:r>
              <a:t>7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Text 1"/>
          <p:cNvSpPr txBox="1"/>
          <p:nvPr/>
        </p:nvSpPr>
        <p:spPr>
          <a:xfrm>
            <a:off x="640080" y="912368"/>
            <a:ext cx="10058401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700">
                <a:solidFill>
                  <a:srgbClr val="0B2A3D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Environment Variables vs. Regular Variables</a:t>
            </a:r>
          </a:p>
        </p:txBody>
      </p:sp>
      <p:graphicFrame>
        <p:nvGraphicFramePr>
          <p:cNvPr id="108" name="Table 0"/>
          <p:cNvGraphicFramePr/>
          <p:nvPr/>
        </p:nvGraphicFramePr>
        <p:xfrm>
          <a:off x="640080" y="1737360"/>
          <a:ext cx="10881360" cy="4279392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2377440"/>
                <a:gridCol w="4251960"/>
                <a:gridCol w="4251960"/>
              </a:tblGrid>
              <a:tr h="713232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300">
                          <a:solidFill>
                            <a:srgbClr val="FFFFFF"/>
                          </a:solidFill>
                        </a:rPr>
                        <a:t>Aspect</a:t>
                      </a:r>
                    </a:p>
                  </a:txBody>
                  <a:tcPr marL="45720" marR="45720" marT="45720" marB="45720" anchor="ctr" anchorCtr="0" horzOverflow="overflow">
                    <a:lnL>
                      <a:solidFill>
                        <a:srgbClr val="E4ECEF"/>
                      </a:solidFill>
                    </a:lnL>
                    <a:lnR>
                      <a:solidFill>
                        <a:srgbClr val="E4ECEF"/>
                      </a:solidFill>
                    </a:lnR>
                    <a:lnT>
                      <a:solidFill>
                        <a:srgbClr val="E4ECEF"/>
                      </a:solidFill>
                    </a:lnT>
                    <a:lnB>
                      <a:solidFill>
                        <a:srgbClr val="E4ECEF"/>
                      </a:solidFill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300">
                          <a:solidFill>
                            <a:srgbClr val="FFFFFF"/>
                          </a:solidFill>
                        </a:rPr>
                        <a:t>Environment Variable</a:t>
                      </a:r>
                    </a:p>
                  </a:txBody>
                  <a:tcPr marL="45720" marR="45720" marT="45720" marB="45720" anchor="ctr" anchorCtr="0" horzOverflow="overflow">
                    <a:lnL>
                      <a:solidFill>
                        <a:srgbClr val="E4ECEF"/>
                      </a:solidFill>
                    </a:lnL>
                    <a:lnR>
                      <a:solidFill>
                        <a:srgbClr val="E4ECEF"/>
                      </a:solidFill>
                    </a:lnR>
                    <a:lnT>
                      <a:solidFill>
                        <a:srgbClr val="E4ECEF"/>
                      </a:solidFill>
                    </a:lnT>
                    <a:lnB>
                      <a:solidFill>
                        <a:srgbClr val="E4ECEF"/>
                      </a:solidFill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300">
                          <a:solidFill>
                            <a:srgbClr val="FFFFFF"/>
                          </a:solidFill>
                        </a:rPr>
                        <a:t>Regular (Code) Variable</a:t>
                      </a:r>
                    </a:p>
                  </a:txBody>
                  <a:tcPr marL="45720" marR="45720" marT="45720" marB="45720" anchor="ctr" anchorCtr="0" horzOverflow="overflow">
                    <a:lnL>
                      <a:solidFill>
                        <a:srgbClr val="E4ECEF"/>
                      </a:solidFill>
                    </a:lnL>
                    <a:lnR>
                      <a:solidFill>
                        <a:srgbClr val="E4ECEF"/>
                      </a:solidFill>
                    </a:lnR>
                    <a:lnT>
                      <a:solidFill>
                        <a:srgbClr val="E4ECEF"/>
                      </a:solidFill>
                    </a:lnT>
                    <a:lnB>
                      <a:solidFill>
                        <a:srgbClr val="E4ECEF"/>
                      </a:solidFill>
                    </a:lnB>
                    <a:solidFill>
                      <a:srgbClr val="065A82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1E293B"/>
                          </a:solidFill>
                        </a:rPr>
                        <a:t>Defined in</a:t>
                      </a:r>
                    </a:p>
                  </a:txBody>
                  <a:tcPr marL="45720" marR="45720" marT="45720" marB="45720" anchor="ctr" anchorCtr="0" horzOverflow="overflow">
                    <a:lnL>
                      <a:solidFill>
                        <a:srgbClr val="E4ECEF"/>
                      </a:solidFill>
                    </a:lnL>
                    <a:lnR>
                      <a:solidFill>
                        <a:srgbClr val="E4ECEF"/>
                      </a:solidFill>
                    </a:lnR>
                    <a:lnT>
                      <a:solidFill>
                        <a:srgbClr val="E4ECEF"/>
                      </a:solidFill>
                    </a:lnT>
                    <a:lnB>
                      <a:solidFill>
                        <a:srgbClr val="E4EC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1E293B"/>
                          </a:solidFill>
                        </a:rPr>
                        <a:t>The OS / shell, outside the program</a:t>
                      </a:r>
                    </a:p>
                  </a:txBody>
                  <a:tcPr marL="45720" marR="45720" marT="45720" marB="45720" anchor="ctr" anchorCtr="0" horzOverflow="overflow">
                    <a:lnL>
                      <a:solidFill>
                        <a:srgbClr val="E4ECEF"/>
                      </a:solidFill>
                    </a:lnL>
                    <a:lnR>
                      <a:solidFill>
                        <a:srgbClr val="E4ECEF"/>
                      </a:solidFill>
                    </a:lnR>
                    <a:lnT>
                      <a:solidFill>
                        <a:srgbClr val="E4ECEF"/>
                      </a:solidFill>
                    </a:lnT>
                    <a:lnB>
                      <a:solidFill>
                        <a:srgbClr val="E4EC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1E293B"/>
                          </a:solidFill>
                        </a:rPr>
                        <a:t>The source code itself</a:t>
                      </a:r>
                    </a:p>
                  </a:txBody>
                  <a:tcPr marL="45720" marR="45720" marT="45720" marB="45720" anchor="ctr" anchorCtr="0" horzOverflow="overflow">
                    <a:lnL>
                      <a:solidFill>
                        <a:srgbClr val="E4ECEF"/>
                      </a:solidFill>
                    </a:lnL>
                    <a:lnR>
                      <a:solidFill>
                        <a:srgbClr val="E4ECEF"/>
                      </a:solidFill>
                    </a:lnR>
                    <a:lnT>
                      <a:solidFill>
                        <a:srgbClr val="E4ECEF"/>
                      </a:solidFill>
                    </a:lnT>
                    <a:lnB>
                      <a:solidFill>
                        <a:srgbClr val="E4ECE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1E293B"/>
                          </a:solidFill>
                        </a:rPr>
                        <a:t>Scope</a:t>
                      </a:r>
                    </a:p>
                  </a:txBody>
                  <a:tcPr marL="45720" marR="45720" marT="45720" marB="45720" anchor="ctr" anchorCtr="0" horzOverflow="overflow">
                    <a:lnL>
                      <a:solidFill>
                        <a:srgbClr val="E4ECEF"/>
                      </a:solidFill>
                    </a:lnL>
                    <a:lnR>
                      <a:solidFill>
                        <a:srgbClr val="E4ECEF"/>
                      </a:solidFill>
                    </a:lnR>
                    <a:lnT>
                      <a:solidFill>
                        <a:srgbClr val="E4ECEF"/>
                      </a:solidFill>
                    </a:lnT>
                    <a:lnB>
                      <a:solidFill>
                        <a:srgbClr val="E4EC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1E293B"/>
                          </a:solidFill>
                        </a:rPr>
                        <a:t>Process-wide — any program can read it</a:t>
                      </a:r>
                    </a:p>
                  </a:txBody>
                  <a:tcPr marL="45720" marR="45720" marT="45720" marB="45720" anchor="ctr" anchorCtr="0" horzOverflow="overflow">
                    <a:lnL>
                      <a:solidFill>
                        <a:srgbClr val="E4ECEF"/>
                      </a:solidFill>
                    </a:lnL>
                    <a:lnR>
                      <a:solidFill>
                        <a:srgbClr val="E4ECEF"/>
                      </a:solidFill>
                    </a:lnR>
                    <a:lnT>
                      <a:solidFill>
                        <a:srgbClr val="E4ECEF"/>
                      </a:solidFill>
                    </a:lnT>
                    <a:lnB>
                      <a:solidFill>
                        <a:srgbClr val="E4EC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1E293B"/>
                          </a:solidFill>
                        </a:rPr>
                        <a:t>Limited to function, class, or module</a:t>
                      </a:r>
                    </a:p>
                  </a:txBody>
                  <a:tcPr marL="45720" marR="45720" marT="45720" marB="45720" anchor="ctr" anchorCtr="0" horzOverflow="overflow">
                    <a:lnL>
                      <a:solidFill>
                        <a:srgbClr val="E4ECEF"/>
                      </a:solidFill>
                    </a:lnL>
                    <a:lnR>
                      <a:solidFill>
                        <a:srgbClr val="E4ECEF"/>
                      </a:solidFill>
                    </a:lnR>
                    <a:lnT>
                      <a:solidFill>
                        <a:srgbClr val="E4ECEF"/>
                      </a:solidFill>
                    </a:lnT>
                    <a:lnB>
                      <a:solidFill>
                        <a:srgbClr val="E4ECE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1E293B"/>
                          </a:solidFill>
                        </a:rPr>
                        <a:t>Persistence</a:t>
                      </a:r>
                    </a:p>
                  </a:txBody>
                  <a:tcPr marL="45720" marR="45720" marT="45720" marB="45720" anchor="ctr" anchorCtr="0" horzOverflow="overflow">
                    <a:lnL>
                      <a:solidFill>
                        <a:srgbClr val="E4ECEF"/>
                      </a:solidFill>
                    </a:lnL>
                    <a:lnR>
                      <a:solidFill>
                        <a:srgbClr val="E4ECEF"/>
                      </a:solidFill>
                    </a:lnR>
                    <a:lnT>
                      <a:solidFill>
                        <a:srgbClr val="E4ECEF"/>
                      </a:solidFill>
                    </a:lnT>
                    <a:lnB>
                      <a:solidFill>
                        <a:srgbClr val="E4EC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1E293B"/>
                          </a:solidFill>
                        </a:rPr>
                        <a:t>storing the data permanently</a:t>
                      </a:r>
                    </a:p>
                  </a:txBody>
                  <a:tcPr marL="45720" marR="45720" marT="45720" marB="45720" anchor="ctr" anchorCtr="0" horzOverflow="overflow">
                    <a:lnL>
                      <a:solidFill>
                        <a:srgbClr val="E4ECEF"/>
                      </a:solidFill>
                    </a:lnL>
                    <a:lnR>
                      <a:solidFill>
                        <a:srgbClr val="E4ECEF"/>
                      </a:solidFill>
                    </a:lnR>
                    <a:lnT>
                      <a:solidFill>
                        <a:srgbClr val="E4ECEF"/>
                      </a:solidFill>
                    </a:lnT>
                    <a:lnB>
                      <a:solidFill>
                        <a:srgbClr val="E4EC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1E293B"/>
                          </a:solidFill>
                        </a:rPr>
                        <a:t>Exists only while the program runs (temporarily)</a:t>
                      </a:r>
                    </a:p>
                  </a:txBody>
                  <a:tcPr marL="45720" marR="45720" marT="45720" marB="45720" anchor="ctr" anchorCtr="0" horzOverflow="overflow">
                    <a:lnL>
                      <a:solidFill>
                        <a:srgbClr val="E4ECEF"/>
                      </a:solidFill>
                    </a:lnL>
                    <a:lnR>
                      <a:solidFill>
                        <a:srgbClr val="E4ECEF"/>
                      </a:solidFill>
                    </a:lnR>
                    <a:lnT>
                      <a:solidFill>
                        <a:srgbClr val="E4ECEF"/>
                      </a:solidFill>
                    </a:lnT>
                    <a:lnB>
                      <a:solidFill>
                        <a:srgbClr val="E4ECE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1E293B"/>
                          </a:solidFill>
                        </a:rPr>
                        <a:t>Changing value</a:t>
                      </a:r>
                    </a:p>
                  </a:txBody>
                  <a:tcPr marL="45720" marR="45720" marT="45720" marB="45720" anchor="ctr" anchorCtr="0" horzOverflow="overflow">
                    <a:lnL>
                      <a:solidFill>
                        <a:srgbClr val="E4ECEF"/>
                      </a:solidFill>
                    </a:lnL>
                    <a:lnR>
                      <a:solidFill>
                        <a:srgbClr val="E4ECEF"/>
                      </a:solidFill>
                    </a:lnR>
                    <a:lnT>
                      <a:solidFill>
                        <a:srgbClr val="E4ECEF"/>
                      </a:solidFill>
                    </a:lnT>
                    <a:lnB>
                      <a:solidFill>
                        <a:srgbClr val="E4EC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1E293B"/>
                          </a:solidFill>
                        </a:rPr>
                        <a:t>No code change or rebuild needed</a:t>
                      </a:r>
                    </a:p>
                  </a:txBody>
                  <a:tcPr marL="45720" marR="45720" marT="45720" marB="45720" anchor="ctr" anchorCtr="0" horzOverflow="overflow">
                    <a:lnL>
                      <a:solidFill>
                        <a:srgbClr val="E4ECEF"/>
                      </a:solidFill>
                    </a:lnL>
                    <a:lnR>
                      <a:solidFill>
                        <a:srgbClr val="E4ECEF"/>
                      </a:solidFill>
                    </a:lnR>
                    <a:lnT>
                      <a:solidFill>
                        <a:srgbClr val="E4ECEF"/>
                      </a:solidFill>
                    </a:lnT>
                    <a:lnB>
                      <a:solidFill>
                        <a:srgbClr val="E4EC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1E293B"/>
                          </a:solidFill>
                        </a:rPr>
                        <a:t>Requires editing </a:t>
                      </a:r>
                    </a:p>
                  </a:txBody>
                  <a:tcPr marL="45720" marR="45720" marT="45720" marB="45720" anchor="ctr" anchorCtr="0" horzOverflow="overflow">
                    <a:lnL>
                      <a:solidFill>
                        <a:srgbClr val="E4ECEF"/>
                      </a:solidFill>
                    </a:lnL>
                    <a:lnR>
                      <a:solidFill>
                        <a:srgbClr val="E4ECEF"/>
                      </a:solidFill>
                    </a:lnR>
                    <a:lnT>
                      <a:solidFill>
                        <a:srgbClr val="E4ECEF"/>
                      </a:solidFill>
                    </a:lnT>
                    <a:lnB>
                      <a:solidFill>
                        <a:srgbClr val="E4ECE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1E293B"/>
                          </a:solidFill>
                        </a:rPr>
                        <a:t>Typical use</a:t>
                      </a:r>
                    </a:p>
                  </a:txBody>
                  <a:tcPr marL="45720" marR="45720" marT="45720" marB="45720" anchor="ctr" anchorCtr="0" horzOverflow="overflow">
                    <a:lnL>
                      <a:solidFill>
                        <a:srgbClr val="E4ECEF"/>
                      </a:solidFill>
                    </a:lnL>
                    <a:lnR>
                      <a:solidFill>
                        <a:srgbClr val="E4ECEF"/>
                      </a:solidFill>
                    </a:lnR>
                    <a:lnT>
                      <a:solidFill>
                        <a:srgbClr val="E4ECEF"/>
                      </a:solidFill>
                    </a:lnT>
                    <a:lnB>
                      <a:solidFill>
                        <a:srgbClr val="E4EC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1E293B"/>
                          </a:solidFill>
                        </a:rPr>
                        <a:t>Secrets, config, environment-specific values</a:t>
                      </a:r>
                    </a:p>
                  </a:txBody>
                  <a:tcPr marL="45720" marR="45720" marT="45720" marB="45720" anchor="ctr" anchorCtr="0" horzOverflow="overflow">
                    <a:lnL>
                      <a:solidFill>
                        <a:srgbClr val="E4ECEF"/>
                      </a:solidFill>
                    </a:lnL>
                    <a:lnR>
                      <a:solidFill>
                        <a:srgbClr val="E4ECEF"/>
                      </a:solidFill>
                    </a:lnR>
                    <a:lnT>
                      <a:solidFill>
                        <a:srgbClr val="E4ECEF"/>
                      </a:solidFill>
                    </a:lnT>
                    <a:lnB>
                      <a:solidFill>
                        <a:srgbClr val="E4EC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1E293B"/>
                          </a:solidFill>
                        </a:rPr>
                        <a:t>Program logic and temporary calculations</a:t>
                      </a:r>
                    </a:p>
                  </a:txBody>
                  <a:tcPr marL="45720" marR="45720" marT="45720" marB="45720" anchor="ctr" anchorCtr="0" horzOverflow="overflow">
                    <a:lnL>
                      <a:solidFill>
                        <a:srgbClr val="E4ECEF"/>
                      </a:solidFill>
                    </a:lnL>
                    <a:lnR>
                      <a:solidFill>
                        <a:srgbClr val="E4ECEF"/>
                      </a:solidFill>
                    </a:lnR>
                    <a:lnT>
                      <a:solidFill>
                        <a:srgbClr val="E4ECEF"/>
                      </a:solidFill>
                    </a:lnT>
                    <a:lnB>
                      <a:solidFill>
                        <a:srgbClr val="E4ECE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9" name="Text 3"/>
          <p:cNvSpPr txBox="1"/>
          <p:nvPr/>
        </p:nvSpPr>
        <p:spPr>
          <a:xfrm>
            <a:off x="11277295" y="6542576"/>
            <a:ext cx="45720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000">
                <a:solidFill>
                  <a:srgbClr val="5B6B76"/>
                </a:solidFill>
              </a:defRPr>
            </a:lvl1pPr>
          </a:lstStyle>
          <a:p>
            <a:pPr/>
            <a:r>
              <a:t>8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Aptos"/>
        <a:ea typeface="Aptos"/>
        <a:cs typeface="Aptos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Aptos"/>
        <a:ea typeface="Aptos"/>
        <a:cs typeface="Aptos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
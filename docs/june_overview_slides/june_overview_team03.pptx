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30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" name="Shape 1"/>
          <p:cNvSpPr/>
          <p:nvPr/>
        </p:nvSpPr>
        <p:spPr>
          <a:xfrm>
            <a:off x="-3291841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" name="Shape 2"/>
          <p:cNvSpPr/>
          <p:nvPr/>
        </p:nvSpPr>
        <p:spPr>
          <a:xfrm>
            <a:off x="8869680" y="3749040"/>
            <a:ext cx="1920241" cy="1920241"/>
          </a:xfrm>
          <a:prstGeom prst="ellipse">
            <a:avLst/>
          </a:prstGeom>
          <a:solidFill>
            <a:srgbClr val="FDF1D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" name="Text 3"/>
          <p:cNvSpPr txBox="1"/>
          <p:nvPr/>
        </p:nvSpPr>
        <p:spPr>
          <a:xfrm>
            <a:off x="822960" y="1653979"/>
            <a:ext cx="7315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50" sz="13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COMPLETE LEARNING JOURNEY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22959" y="2177414"/>
            <a:ext cx="9326882" cy="14058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sz="46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Fundamentals of Web,</a:t>
            </a:r>
          </a:p>
          <a:p>
            <a:pPr>
              <a:lnSpc>
                <a:spcPct val="104999"/>
              </a:lnSpc>
              <a:defRPr sz="46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Algorithms &amp; Systems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822960" y="3865705"/>
            <a:ext cx="8686801" cy="45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i="1" sz="15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From GitHub &amp; Web Hosting to Algorithms, Flowcharts, C Programming,</a:t>
            </a:r>
          </a:p>
          <a:p>
            <a:pPr>
              <a:lnSpc>
                <a:spcPct val="120000"/>
              </a:lnSpc>
              <a:defRPr i="1" sz="15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Linux, Compilation, Number Systems &amp; Debugging</a:t>
            </a:r>
          </a:p>
        </p:txBody>
      </p:sp>
      <p:sp>
        <p:nvSpPr>
          <p:cNvPr id="26" name="Shape 6"/>
          <p:cNvSpPr/>
          <p:nvPr/>
        </p:nvSpPr>
        <p:spPr>
          <a:xfrm>
            <a:off x="822960" y="4892040"/>
            <a:ext cx="566931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6031" y="504511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hape 7"/>
          <p:cNvSpPr/>
          <p:nvPr/>
        </p:nvSpPr>
        <p:spPr>
          <a:xfrm>
            <a:off x="1600200" y="4892040"/>
            <a:ext cx="566928" cy="566931"/>
          </a:xfrm>
          <a:prstGeom prst="ellipse">
            <a:avLst/>
          </a:prstGeom>
          <a:solidFill>
            <a:srgbClr val="0B3D6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53271" y="504511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Shape 8"/>
          <p:cNvSpPr/>
          <p:nvPr/>
        </p:nvSpPr>
        <p:spPr>
          <a:xfrm>
            <a:off x="2377438" y="4892040"/>
            <a:ext cx="566932" cy="566931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30511" y="504511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hape 9"/>
          <p:cNvSpPr/>
          <p:nvPr/>
        </p:nvSpPr>
        <p:spPr>
          <a:xfrm>
            <a:off x="3154678" y="4892040"/>
            <a:ext cx="566931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07750" y="504511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10"/>
          <p:cNvSpPr/>
          <p:nvPr/>
        </p:nvSpPr>
        <p:spPr>
          <a:xfrm>
            <a:off x="3931920" y="4892040"/>
            <a:ext cx="566931" cy="566931"/>
          </a:xfrm>
          <a:prstGeom prst="ellipse">
            <a:avLst/>
          </a:prstGeom>
          <a:solidFill>
            <a:srgbClr val="0B3D6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5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084990" y="5045111"/>
            <a:ext cx="260789" cy="2607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VERSION CONTROL &amp; PUBLISHING</a:t>
            </a:r>
          </a:p>
        </p:txBody>
      </p:sp>
      <p:sp>
        <p:nvSpPr>
          <p:cNvPr id="39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GitHub: Account, Repository &amp; Daily Notes</a:t>
            </a:r>
          </a:p>
        </p:txBody>
      </p:sp>
      <p:sp>
        <p:nvSpPr>
          <p:cNvPr id="40" name="Shape 3"/>
          <p:cNvSpPr/>
          <p:nvPr/>
        </p:nvSpPr>
        <p:spPr>
          <a:xfrm>
            <a:off x="502919" y="1783078"/>
            <a:ext cx="2500885" cy="1417322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" name="Shape 4"/>
          <p:cNvSpPr/>
          <p:nvPr/>
        </p:nvSpPr>
        <p:spPr>
          <a:xfrm>
            <a:off x="1533905" y="156362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52410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Text 5"/>
          <p:cNvSpPr txBox="1"/>
          <p:nvPr/>
        </p:nvSpPr>
        <p:spPr>
          <a:xfrm>
            <a:off x="594359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" name="Text 6"/>
          <p:cNvSpPr txBox="1"/>
          <p:nvPr/>
        </p:nvSpPr>
        <p:spPr>
          <a:xfrm>
            <a:off x="612648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Create Account</a:t>
            </a:r>
          </a:p>
        </p:txBody>
      </p:sp>
      <p:sp>
        <p:nvSpPr>
          <p:cNvPr id="45" name="Text 7"/>
          <p:cNvSpPr txBox="1"/>
          <p:nvPr/>
        </p:nvSpPr>
        <p:spPr>
          <a:xfrm>
            <a:off x="612648" y="2666405"/>
            <a:ext cx="228143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Sign up at github.com with a username, email &amp; password</a:t>
            </a:r>
          </a:p>
        </p:txBody>
      </p:sp>
      <p:sp>
        <p:nvSpPr>
          <p:cNvPr id="46" name="Shape 8"/>
          <p:cNvSpPr/>
          <p:nvPr/>
        </p:nvSpPr>
        <p:spPr>
          <a:xfrm>
            <a:off x="3049890" y="240944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" name="Shape 9"/>
          <p:cNvSpPr/>
          <p:nvPr/>
        </p:nvSpPr>
        <p:spPr>
          <a:xfrm>
            <a:off x="3387852" y="1783078"/>
            <a:ext cx="2500886" cy="1417322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" name="Shape 10"/>
          <p:cNvSpPr/>
          <p:nvPr/>
        </p:nvSpPr>
        <p:spPr>
          <a:xfrm>
            <a:off x="4418838" y="1563624"/>
            <a:ext cx="438913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37342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ext 11"/>
          <p:cNvSpPr txBox="1"/>
          <p:nvPr/>
        </p:nvSpPr>
        <p:spPr>
          <a:xfrm>
            <a:off x="3479291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1" name="Text 12"/>
          <p:cNvSpPr txBox="1"/>
          <p:nvPr/>
        </p:nvSpPr>
        <p:spPr>
          <a:xfrm>
            <a:off x="3497579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Create Repository</a:t>
            </a:r>
          </a:p>
        </p:txBody>
      </p:sp>
      <p:sp>
        <p:nvSpPr>
          <p:cNvPr id="52" name="Text 13"/>
          <p:cNvSpPr txBox="1"/>
          <p:nvPr/>
        </p:nvSpPr>
        <p:spPr>
          <a:xfrm>
            <a:off x="3497579" y="2729992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New repo to hold your project files &amp; notes</a:t>
            </a:r>
          </a:p>
        </p:txBody>
      </p:sp>
      <p:sp>
        <p:nvSpPr>
          <p:cNvPr id="53" name="Shape 14"/>
          <p:cNvSpPr/>
          <p:nvPr/>
        </p:nvSpPr>
        <p:spPr>
          <a:xfrm>
            <a:off x="5934821" y="240944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" name="Shape 15"/>
          <p:cNvSpPr/>
          <p:nvPr/>
        </p:nvSpPr>
        <p:spPr>
          <a:xfrm>
            <a:off x="6272784" y="1783078"/>
            <a:ext cx="2500886" cy="1417322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" name="Shape 16"/>
          <p:cNvSpPr/>
          <p:nvPr/>
        </p:nvSpPr>
        <p:spPr>
          <a:xfrm>
            <a:off x="7303768" y="156362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22274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Text 17"/>
          <p:cNvSpPr txBox="1"/>
          <p:nvPr/>
        </p:nvSpPr>
        <p:spPr>
          <a:xfrm>
            <a:off x="6364223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" name="Text 18"/>
          <p:cNvSpPr txBox="1"/>
          <p:nvPr/>
        </p:nvSpPr>
        <p:spPr>
          <a:xfrm>
            <a:off x="6382510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Add index.html</a:t>
            </a:r>
          </a:p>
        </p:txBody>
      </p:sp>
      <p:sp>
        <p:nvSpPr>
          <p:cNvPr id="59" name="Text 19"/>
          <p:cNvSpPr txBox="1"/>
          <p:nvPr/>
        </p:nvSpPr>
        <p:spPr>
          <a:xfrm>
            <a:off x="6382510" y="2729992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Create the entry-point HTML file for your site</a:t>
            </a:r>
          </a:p>
        </p:txBody>
      </p:sp>
      <p:sp>
        <p:nvSpPr>
          <p:cNvPr id="60" name="Shape 20"/>
          <p:cNvSpPr/>
          <p:nvPr/>
        </p:nvSpPr>
        <p:spPr>
          <a:xfrm>
            <a:off x="8819753" y="240944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" name="Shape 21"/>
          <p:cNvSpPr/>
          <p:nvPr/>
        </p:nvSpPr>
        <p:spPr>
          <a:xfrm>
            <a:off x="9157716" y="1783078"/>
            <a:ext cx="2500886" cy="1417322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" name="Shape 22"/>
          <p:cNvSpPr/>
          <p:nvPr/>
        </p:nvSpPr>
        <p:spPr>
          <a:xfrm>
            <a:off x="10188702" y="156362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6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07208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23"/>
          <p:cNvSpPr txBox="1"/>
          <p:nvPr/>
        </p:nvSpPr>
        <p:spPr>
          <a:xfrm>
            <a:off x="9249156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5" name="Text 24"/>
          <p:cNvSpPr txBox="1"/>
          <p:nvPr/>
        </p:nvSpPr>
        <p:spPr>
          <a:xfrm>
            <a:off x="9267442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Update Daily Notes</a:t>
            </a:r>
          </a:p>
        </p:txBody>
      </p:sp>
      <p:sp>
        <p:nvSpPr>
          <p:cNvPr id="66" name="Text 25"/>
          <p:cNvSpPr txBox="1"/>
          <p:nvPr/>
        </p:nvSpPr>
        <p:spPr>
          <a:xfrm>
            <a:off x="9267442" y="2729992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Log progress daily using semantic HTML tags</a:t>
            </a:r>
          </a:p>
        </p:txBody>
      </p:sp>
      <p:sp>
        <p:nvSpPr>
          <p:cNvPr id="67" name="Shape 26"/>
          <p:cNvSpPr/>
          <p:nvPr/>
        </p:nvSpPr>
        <p:spPr>
          <a:xfrm>
            <a:off x="502919" y="3520440"/>
            <a:ext cx="5394962" cy="2651762"/>
          </a:xfrm>
          <a:prstGeom prst="roundRect">
            <a:avLst>
              <a:gd name="adj" fmla="val 3103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" name="Text 27"/>
          <p:cNvSpPr txBox="1"/>
          <p:nvPr/>
        </p:nvSpPr>
        <p:spPr>
          <a:xfrm>
            <a:off x="758950" y="3792920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Repository Essentials</a:t>
            </a:r>
          </a:p>
        </p:txBody>
      </p:sp>
      <p:sp>
        <p:nvSpPr>
          <p:cNvPr id="69" name="Text 28"/>
          <p:cNvSpPr txBox="1"/>
          <p:nvPr/>
        </p:nvSpPr>
        <p:spPr>
          <a:xfrm>
            <a:off x="758950" y="4123943"/>
            <a:ext cx="4882900" cy="1033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Repository = a folder that Git tracks for version history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README.md describes the project for visitors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Commits save snapshots of your changes over time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Branches let you work on features without breaking main code</a:t>
            </a:r>
          </a:p>
        </p:txBody>
      </p:sp>
      <p:sp>
        <p:nvSpPr>
          <p:cNvPr id="70" name="Shape 29"/>
          <p:cNvSpPr/>
          <p:nvPr/>
        </p:nvSpPr>
        <p:spPr>
          <a:xfrm>
            <a:off x="6172200" y="3520440"/>
            <a:ext cx="5486400" cy="2651762"/>
          </a:xfrm>
          <a:prstGeom prst="roundRect">
            <a:avLst>
              <a:gd name="adj" fmla="val 3103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" name="Text 30"/>
          <p:cNvSpPr txBox="1"/>
          <p:nvPr/>
        </p:nvSpPr>
        <p:spPr>
          <a:xfrm>
            <a:off x="6428232" y="3792920"/>
            <a:ext cx="4974336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HTML Tags for Daily Notes</a:t>
            </a:r>
          </a:p>
        </p:txBody>
      </p:sp>
      <p:sp>
        <p:nvSpPr>
          <p:cNvPr id="72" name="Text 31"/>
          <p:cNvSpPr txBox="1"/>
          <p:nvPr/>
        </p:nvSpPr>
        <p:spPr>
          <a:xfrm>
            <a:off x="6428232" y="4123943"/>
            <a:ext cx="4974336" cy="1033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&lt;h1&gt;–&lt;h6&gt; — headings for date &amp; section titles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&lt;p&gt; — paragraph text for each note entry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&lt;ul&gt;/&lt;li&gt; — bullet list of tasks or learnings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&lt;strong&gt; / &lt;em&gt; — emphasize key takeaways</a:t>
            </a:r>
          </a:p>
        </p:txBody>
      </p:sp>
      <p:sp>
        <p:nvSpPr>
          <p:cNvPr id="73" name="Text 32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GITHUB FUNDAMENTALS</a:t>
            </a:r>
          </a:p>
        </p:txBody>
      </p:sp>
      <p:sp>
        <p:nvSpPr>
          <p:cNvPr id="74" name="Text 33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GOING LIVE ON THE WEB</a:t>
            </a:r>
          </a:p>
        </p:txBody>
      </p:sp>
      <p:sp>
        <p:nvSpPr>
          <p:cNvPr id="78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Custom Domain + GitHub Pages Hosting</a:t>
            </a:r>
          </a:p>
        </p:txBody>
      </p:sp>
      <p:sp>
        <p:nvSpPr>
          <p:cNvPr id="79" name="Shape 3"/>
          <p:cNvSpPr/>
          <p:nvPr/>
        </p:nvSpPr>
        <p:spPr>
          <a:xfrm>
            <a:off x="502919" y="1783078"/>
            <a:ext cx="2500885" cy="1417322"/>
          </a:xfrm>
          <a:prstGeom prst="roundRect">
            <a:avLst>
              <a:gd name="adj" fmla="val 580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" name="Shape 4"/>
          <p:cNvSpPr/>
          <p:nvPr/>
        </p:nvSpPr>
        <p:spPr>
          <a:xfrm>
            <a:off x="1533905" y="1563624"/>
            <a:ext cx="438915" cy="43891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52410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5"/>
          <p:cNvSpPr txBox="1"/>
          <p:nvPr/>
        </p:nvSpPr>
        <p:spPr>
          <a:xfrm>
            <a:off x="594359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3" name="Text 6"/>
          <p:cNvSpPr txBox="1"/>
          <p:nvPr/>
        </p:nvSpPr>
        <p:spPr>
          <a:xfrm>
            <a:off x="612648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Buy Domain</a:t>
            </a:r>
          </a:p>
        </p:txBody>
      </p:sp>
      <p:sp>
        <p:nvSpPr>
          <p:cNvPr id="84" name="Text 7"/>
          <p:cNvSpPr txBox="1"/>
          <p:nvPr/>
        </p:nvSpPr>
        <p:spPr>
          <a:xfrm>
            <a:off x="612648" y="2729992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Purchase a domain name from BigRock</a:t>
            </a:r>
          </a:p>
        </p:txBody>
      </p:sp>
      <p:sp>
        <p:nvSpPr>
          <p:cNvPr id="85" name="Shape 8"/>
          <p:cNvSpPr/>
          <p:nvPr/>
        </p:nvSpPr>
        <p:spPr>
          <a:xfrm>
            <a:off x="3049890" y="240944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" name="Shape 9"/>
          <p:cNvSpPr/>
          <p:nvPr/>
        </p:nvSpPr>
        <p:spPr>
          <a:xfrm>
            <a:off x="3387852" y="1783078"/>
            <a:ext cx="2500886" cy="1417322"/>
          </a:xfrm>
          <a:prstGeom prst="roundRect">
            <a:avLst>
              <a:gd name="adj" fmla="val 580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" name="Shape 10"/>
          <p:cNvSpPr/>
          <p:nvPr/>
        </p:nvSpPr>
        <p:spPr>
          <a:xfrm>
            <a:off x="4418838" y="1563624"/>
            <a:ext cx="438913" cy="43891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8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37342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ext 11"/>
          <p:cNvSpPr txBox="1"/>
          <p:nvPr/>
        </p:nvSpPr>
        <p:spPr>
          <a:xfrm>
            <a:off x="3479291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0" name="Text 12"/>
          <p:cNvSpPr txBox="1"/>
          <p:nvPr/>
        </p:nvSpPr>
        <p:spPr>
          <a:xfrm>
            <a:off x="3497579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Enable Pages</a:t>
            </a:r>
          </a:p>
        </p:txBody>
      </p:sp>
      <p:sp>
        <p:nvSpPr>
          <p:cNvPr id="91" name="Text 13"/>
          <p:cNvSpPr txBox="1"/>
          <p:nvPr/>
        </p:nvSpPr>
        <p:spPr>
          <a:xfrm>
            <a:off x="3497579" y="2729992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Turn on GitHub Pages in repo Settings</a:t>
            </a:r>
          </a:p>
        </p:txBody>
      </p:sp>
      <p:sp>
        <p:nvSpPr>
          <p:cNvPr id="92" name="Shape 14"/>
          <p:cNvSpPr/>
          <p:nvPr/>
        </p:nvSpPr>
        <p:spPr>
          <a:xfrm>
            <a:off x="5934821" y="240944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" name="Shape 15"/>
          <p:cNvSpPr/>
          <p:nvPr/>
        </p:nvSpPr>
        <p:spPr>
          <a:xfrm>
            <a:off x="6272784" y="1783078"/>
            <a:ext cx="2500886" cy="1417322"/>
          </a:xfrm>
          <a:prstGeom prst="roundRect">
            <a:avLst>
              <a:gd name="adj" fmla="val 580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" name="Shape 16"/>
          <p:cNvSpPr/>
          <p:nvPr/>
        </p:nvSpPr>
        <p:spPr>
          <a:xfrm>
            <a:off x="7303768" y="1563624"/>
            <a:ext cx="438915" cy="43891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9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22274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 17"/>
          <p:cNvSpPr txBox="1"/>
          <p:nvPr/>
        </p:nvSpPr>
        <p:spPr>
          <a:xfrm>
            <a:off x="6364223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7" name="Text 18"/>
          <p:cNvSpPr txBox="1"/>
          <p:nvPr/>
        </p:nvSpPr>
        <p:spPr>
          <a:xfrm>
            <a:off x="6382510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Point DNS</a:t>
            </a:r>
          </a:p>
        </p:txBody>
      </p:sp>
      <p:sp>
        <p:nvSpPr>
          <p:cNvPr id="98" name="Text 19"/>
          <p:cNvSpPr txBox="1"/>
          <p:nvPr/>
        </p:nvSpPr>
        <p:spPr>
          <a:xfrm>
            <a:off x="6382510" y="2729992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Add A / CNAME records in BigRock DNS panel</a:t>
            </a:r>
          </a:p>
        </p:txBody>
      </p:sp>
      <p:sp>
        <p:nvSpPr>
          <p:cNvPr id="99" name="Shape 20"/>
          <p:cNvSpPr/>
          <p:nvPr/>
        </p:nvSpPr>
        <p:spPr>
          <a:xfrm>
            <a:off x="8819753" y="240944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" name="Shape 21"/>
          <p:cNvSpPr/>
          <p:nvPr/>
        </p:nvSpPr>
        <p:spPr>
          <a:xfrm>
            <a:off x="9157716" y="1783078"/>
            <a:ext cx="2500886" cy="1417322"/>
          </a:xfrm>
          <a:prstGeom prst="roundRect">
            <a:avLst>
              <a:gd name="adj" fmla="val 580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1" name="Shape 22"/>
          <p:cNvSpPr/>
          <p:nvPr/>
        </p:nvSpPr>
        <p:spPr>
          <a:xfrm>
            <a:off x="10188702" y="1563624"/>
            <a:ext cx="438915" cy="43891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0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07208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23"/>
          <p:cNvSpPr txBox="1"/>
          <p:nvPr/>
        </p:nvSpPr>
        <p:spPr>
          <a:xfrm>
            <a:off x="9249156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04" name="Text 24"/>
          <p:cNvSpPr txBox="1"/>
          <p:nvPr/>
        </p:nvSpPr>
        <p:spPr>
          <a:xfrm>
            <a:off x="9267442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Site is Live</a:t>
            </a:r>
          </a:p>
        </p:txBody>
      </p:sp>
      <p:sp>
        <p:nvSpPr>
          <p:cNvPr id="105" name="Text 25"/>
          <p:cNvSpPr txBox="1"/>
          <p:nvPr/>
        </p:nvSpPr>
        <p:spPr>
          <a:xfrm>
            <a:off x="9267442" y="2729992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Your domain now serves the GitHub Pages site</a:t>
            </a:r>
          </a:p>
        </p:txBody>
      </p:sp>
      <p:sp>
        <p:nvSpPr>
          <p:cNvPr id="106" name="Shape 26"/>
          <p:cNvSpPr/>
          <p:nvPr/>
        </p:nvSpPr>
        <p:spPr>
          <a:xfrm>
            <a:off x="502919" y="3520440"/>
            <a:ext cx="5394962" cy="2651762"/>
          </a:xfrm>
          <a:prstGeom prst="roundRect">
            <a:avLst>
              <a:gd name="adj" fmla="val 3103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7" name="Text 27"/>
          <p:cNvSpPr txBox="1"/>
          <p:nvPr/>
        </p:nvSpPr>
        <p:spPr>
          <a:xfrm>
            <a:off x="758950" y="3792920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BigRock Domain Purchase</a:t>
            </a:r>
          </a:p>
        </p:txBody>
      </p:sp>
      <p:sp>
        <p:nvSpPr>
          <p:cNvPr id="108" name="Text 28"/>
          <p:cNvSpPr txBox="1"/>
          <p:nvPr/>
        </p:nvSpPr>
        <p:spPr>
          <a:xfrm>
            <a:off x="758950" y="4123943"/>
            <a:ext cx="4882900" cy="1033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Search for an available domain name &amp; add to cart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Complete registration &amp; payment (typically 1 year+)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Access the DNS management panel after purchase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Domain ownership is verified via your BigRock account</a:t>
            </a:r>
          </a:p>
        </p:txBody>
      </p:sp>
      <p:sp>
        <p:nvSpPr>
          <p:cNvPr id="109" name="Shape 29"/>
          <p:cNvSpPr/>
          <p:nvPr/>
        </p:nvSpPr>
        <p:spPr>
          <a:xfrm>
            <a:off x="6172200" y="3520440"/>
            <a:ext cx="5486400" cy="2651762"/>
          </a:xfrm>
          <a:prstGeom prst="roundRect">
            <a:avLst>
              <a:gd name="adj" fmla="val 3103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Text 30"/>
          <p:cNvSpPr txBox="1"/>
          <p:nvPr/>
        </p:nvSpPr>
        <p:spPr>
          <a:xfrm>
            <a:off x="6428232" y="3792920"/>
            <a:ext cx="4974336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Connecting to GitHub Pages</a:t>
            </a:r>
          </a:p>
        </p:txBody>
      </p:sp>
      <p:sp>
        <p:nvSpPr>
          <p:cNvPr id="111" name="Text 31"/>
          <p:cNvSpPr txBox="1"/>
          <p:nvPr/>
        </p:nvSpPr>
        <p:spPr>
          <a:xfrm>
            <a:off x="6428232" y="4123943"/>
            <a:ext cx="4974336" cy="1033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 BigRock DNS: add CNAME record → username.github.io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 repo Settings → Pages: set the custom domain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GitHub auto-generates a CNAME file in the repository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Enable HTTPS once DNS propagation completes</a:t>
            </a:r>
          </a:p>
        </p:txBody>
      </p:sp>
      <p:sp>
        <p:nvSpPr>
          <p:cNvPr id="112" name="Text 32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HOSTING &amp; DOMAINS</a:t>
            </a:r>
          </a:p>
        </p:txBody>
      </p:sp>
      <p:sp>
        <p:nvSpPr>
          <p:cNvPr id="113" name="Text 33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INTERACTIVE UI DEVELOPMENT</a:t>
            </a:r>
          </a:p>
        </p:txBody>
      </p:sp>
      <p:sp>
        <p:nvSpPr>
          <p:cNvPr id="117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2048 Game — Micro Animations &amp; Transitions</a:t>
            </a:r>
          </a:p>
        </p:txBody>
      </p:sp>
      <p:sp>
        <p:nvSpPr>
          <p:cNvPr id="118" name="Shape 3"/>
          <p:cNvSpPr/>
          <p:nvPr/>
        </p:nvSpPr>
        <p:spPr>
          <a:xfrm>
            <a:off x="7616952" y="1581911"/>
            <a:ext cx="3145538" cy="3145538"/>
          </a:xfrm>
          <a:prstGeom prst="roundRect">
            <a:avLst>
              <a:gd name="adj" fmla="val 2616"/>
            </a:avLst>
          </a:prstGeom>
          <a:solidFill>
            <a:srgbClr val="CFC0AB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" name="Shape 4"/>
          <p:cNvSpPr/>
          <p:nvPr/>
        </p:nvSpPr>
        <p:spPr>
          <a:xfrm>
            <a:off x="7818118" y="1783078"/>
            <a:ext cx="841250" cy="841250"/>
          </a:xfrm>
          <a:prstGeom prst="roundRect">
            <a:avLst>
              <a:gd name="adj" fmla="val 6522"/>
            </a:avLst>
          </a:prstGeom>
          <a:solidFill>
            <a:srgbClr val="EEE4D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" name="Text 5"/>
          <p:cNvSpPr txBox="1"/>
          <p:nvPr/>
        </p:nvSpPr>
        <p:spPr>
          <a:xfrm>
            <a:off x="7818118" y="2056736"/>
            <a:ext cx="841250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776E65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1" name="Shape 6"/>
          <p:cNvSpPr/>
          <p:nvPr/>
        </p:nvSpPr>
        <p:spPr>
          <a:xfrm>
            <a:off x="8769094" y="1783078"/>
            <a:ext cx="841251" cy="841250"/>
          </a:xfrm>
          <a:prstGeom prst="roundRect">
            <a:avLst>
              <a:gd name="adj" fmla="val 6522"/>
            </a:avLst>
          </a:prstGeom>
          <a:solidFill>
            <a:srgbClr val="EEE4D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Text 7"/>
          <p:cNvSpPr txBox="1"/>
          <p:nvPr/>
        </p:nvSpPr>
        <p:spPr>
          <a:xfrm>
            <a:off x="8769094" y="2056736"/>
            <a:ext cx="841250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776E65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3" name="Shape 8"/>
          <p:cNvSpPr/>
          <p:nvPr/>
        </p:nvSpPr>
        <p:spPr>
          <a:xfrm>
            <a:off x="9720071" y="1783078"/>
            <a:ext cx="841250" cy="841250"/>
          </a:xfrm>
          <a:prstGeom prst="roundRect">
            <a:avLst>
              <a:gd name="adj" fmla="val 6522"/>
            </a:avLst>
          </a:prstGeom>
          <a:solidFill>
            <a:srgbClr val="B8AA9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" name="Shape 9"/>
          <p:cNvSpPr/>
          <p:nvPr/>
        </p:nvSpPr>
        <p:spPr>
          <a:xfrm>
            <a:off x="7818118" y="2734055"/>
            <a:ext cx="841250" cy="841250"/>
          </a:xfrm>
          <a:prstGeom prst="roundRect">
            <a:avLst>
              <a:gd name="adj" fmla="val 6522"/>
            </a:avLst>
          </a:prstGeom>
          <a:solidFill>
            <a:srgbClr val="B8AA9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" name="Shape 10"/>
          <p:cNvSpPr/>
          <p:nvPr/>
        </p:nvSpPr>
        <p:spPr>
          <a:xfrm>
            <a:off x="8769094" y="2734055"/>
            <a:ext cx="841251" cy="841250"/>
          </a:xfrm>
          <a:prstGeom prst="roundRect">
            <a:avLst>
              <a:gd name="adj" fmla="val 6522"/>
            </a:avLst>
          </a:prstGeom>
          <a:solidFill>
            <a:srgbClr val="F2B17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" name="Text 11"/>
          <p:cNvSpPr txBox="1"/>
          <p:nvPr/>
        </p:nvSpPr>
        <p:spPr>
          <a:xfrm>
            <a:off x="8769094" y="3007711"/>
            <a:ext cx="8412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27" name="Shape 12"/>
          <p:cNvSpPr/>
          <p:nvPr/>
        </p:nvSpPr>
        <p:spPr>
          <a:xfrm>
            <a:off x="9720071" y="2734055"/>
            <a:ext cx="841250" cy="841250"/>
          </a:xfrm>
          <a:prstGeom prst="roundRect">
            <a:avLst>
              <a:gd name="adj" fmla="val 6522"/>
            </a:avLst>
          </a:prstGeom>
          <a:solidFill>
            <a:srgbClr val="F2B17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Text 13"/>
          <p:cNvSpPr txBox="1"/>
          <p:nvPr/>
        </p:nvSpPr>
        <p:spPr>
          <a:xfrm>
            <a:off x="9720071" y="3007711"/>
            <a:ext cx="8412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29" name="Shape 14"/>
          <p:cNvSpPr/>
          <p:nvPr/>
        </p:nvSpPr>
        <p:spPr>
          <a:xfrm>
            <a:off x="7818118" y="3685032"/>
            <a:ext cx="841250" cy="841250"/>
          </a:xfrm>
          <a:prstGeom prst="roundRect">
            <a:avLst>
              <a:gd name="adj" fmla="val 6522"/>
            </a:avLst>
          </a:prstGeom>
          <a:solidFill>
            <a:srgbClr val="F67C5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" name="Text 15"/>
          <p:cNvSpPr txBox="1"/>
          <p:nvPr/>
        </p:nvSpPr>
        <p:spPr>
          <a:xfrm>
            <a:off x="7818118" y="3958687"/>
            <a:ext cx="8412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131" name="Shape 16"/>
          <p:cNvSpPr/>
          <p:nvPr/>
        </p:nvSpPr>
        <p:spPr>
          <a:xfrm>
            <a:off x="8769094" y="3685032"/>
            <a:ext cx="841251" cy="841250"/>
          </a:xfrm>
          <a:prstGeom prst="roundRect">
            <a:avLst>
              <a:gd name="adj" fmla="val 6522"/>
            </a:avLst>
          </a:prstGeom>
          <a:solidFill>
            <a:srgbClr val="B8AA9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" name="Shape 17"/>
          <p:cNvSpPr/>
          <p:nvPr/>
        </p:nvSpPr>
        <p:spPr>
          <a:xfrm>
            <a:off x="9720071" y="3685032"/>
            <a:ext cx="841250" cy="841250"/>
          </a:xfrm>
          <a:prstGeom prst="roundRect">
            <a:avLst>
              <a:gd name="adj" fmla="val 6522"/>
            </a:avLst>
          </a:prstGeom>
          <a:solidFill>
            <a:srgbClr val="EEE4DA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Text 18"/>
          <p:cNvSpPr txBox="1"/>
          <p:nvPr/>
        </p:nvSpPr>
        <p:spPr>
          <a:xfrm>
            <a:off x="9720071" y="3958687"/>
            <a:ext cx="841250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776E65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" name="Text 19"/>
          <p:cNvSpPr txBox="1"/>
          <p:nvPr/>
        </p:nvSpPr>
        <p:spPr>
          <a:xfrm>
            <a:off x="7543800" y="4874259"/>
            <a:ext cx="3200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Merge → Scale + Fade   |   Slide → Transform Translate</a:t>
            </a:r>
          </a:p>
        </p:txBody>
      </p:sp>
      <p:sp>
        <p:nvSpPr>
          <p:cNvPr id="135" name="Shape 20"/>
          <p:cNvSpPr/>
          <p:nvPr/>
        </p:nvSpPr>
        <p:spPr>
          <a:xfrm>
            <a:off x="502919" y="1783078"/>
            <a:ext cx="6949442" cy="2148842"/>
          </a:xfrm>
          <a:prstGeom prst="roundRect">
            <a:avLst>
              <a:gd name="adj" fmla="val 3830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" name="Text 21"/>
          <p:cNvSpPr txBox="1"/>
          <p:nvPr/>
        </p:nvSpPr>
        <p:spPr>
          <a:xfrm>
            <a:off x="758950" y="2055561"/>
            <a:ext cx="6437379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Core Motion Principles</a:t>
            </a:r>
          </a:p>
        </p:txBody>
      </p:sp>
      <p:sp>
        <p:nvSpPr>
          <p:cNvPr id="137" name="Text 22"/>
          <p:cNvSpPr txBox="1"/>
          <p:nvPr/>
        </p:nvSpPr>
        <p:spPr>
          <a:xfrm>
            <a:off x="758950" y="2386583"/>
            <a:ext cx="6437379" cy="741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Tile Move — CSS transform: translate() slides tiles smoothly to their new grid position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Tile Merge — a quick scale-up (1 → 1.15 → 1) + fade gives a satisfying 'pop' when two tiles combine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New Tile Spawn — scale from 0 → 1 with ease-out so new tiles appear naturally</a:t>
            </a:r>
          </a:p>
        </p:txBody>
      </p:sp>
      <p:sp>
        <p:nvSpPr>
          <p:cNvPr id="138" name="Shape 23"/>
          <p:cNvSpPr/>
          <p:nvPr/>
        </p:nvSpPr>
        <p:spPr>
          <a:xfrm>
            <a:off x="502919" y="4069079"/>
            <a:ext cx="6949442" cy="2103122"/>
          </a:xfrm>
          <a:prstGeom prst="roundRect">
            <a:avLst>
              <a:gd name="adj" fmla="val 3913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Text 24"/>
          <p:cNvSpPr txBox="1"/>
          <p:nvPr/>
        </p:nvSpPr>
        <p:spPr>
          <a:xfrm>
            <a:off x="758950" y="4341560"/>
            <a:ext cx="6437379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Transition Timing</a:t>
            </a:r>
          </a:p>
        </p:txBody>
      </p:sp>
      <p:sp>
        <p:nvSpPr>
          <p:cNvPr id="140" name="Text 25"/>
          <p:cNvSpPr txBox="1"/>
          <p:nvPr/>
        </p:nvSpPr>
        <p:spPr>
          <a:xfrm>
            <a:off x="758950" y="4672584"/>
            <a:ext cx="6437379" cy="741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Duration: 100–150ms for moves, keeps the game feeling responsive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Easing: ease-out for merges, ease-in-out for slides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Score pop: brief translateY + fade-out on the +points indicator</a:t>
            </a:r>
          </a:p>
        </p:txBody>
      </p:sp>
      <p:sp>
        <p:nvSpPr>
          <p:cNvPr id="141" name="Text 26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UI MICRO-INTERACTIONS</a:t>
            </a:r>
          </a:p>
        </p:txBody>
      </p:sp>
      <p:sp>
        <p:nvSpPr>
          <p:cNvPr id="142" name="Text 27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CORE CONCEPT</a:t>
            </a:r>
          </a:p>
        </p:txBody>
      </p:sp>
      <p:sp>
        <p:nvSpPr>
          <p:cNvPr id="146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Is an Algorithm?</a:t>
            </a:r>
          </a:p>
        </p:txBody>
      </p:sp>
      <p:sp>
        <p:nvSpPr>
          <p:cNvPr id="147" name="Shape 3"/>
          <p:cNvSpPr/>
          <p:nvPr/>
        </p:nvSpPr>
        <p:spPr>
          <a:xfrm>
            <a:off x="502919" y="1874520"/>
            <a:ext cx="11155682" cy="1691642"/>
          </a:xfrm>
          <a:prstGeom prst="roundRect">
            <a:avLst>
              <a:gd name="adj" fmla="val 4865"/>
            </a:avLst>
          </a:prstGeom>
          <a:solidFill>
            <a:srgbClr val="0B3D62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Shape 4"/>
          <p:cNvSpPr/>
          <p:nvPr/>
        </p:nvSpPr>
        <p:spPr>
          <a:xfrm>
            <a:off x="868679" y="2212848"/>
            <a:ext cx="868684" cy="86868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4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3224" y="2447392"/>
            <a:ext cx="399595" cy="399595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 5"/>
          <p:cNvSpPr txBox="1"/>
          <p:nvPr/>
        </p:nvSpPr>
        <p:spPr>
          <a:xfrm>
            <a:off x="2011679" y="2414586"/>
            <a:ext cx="9326882" cy="657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Expressing a known process as a set of sequential steps — such that anyone who follows those steps will arrive at similar results.</a:t>
            </a:r>
          </a:p>
        </p:txBody>
      </p:sp>
      <p:sp>
        <p:nvSpPr>
          <p:cNvPr id="151" name="Shape 6"/>
          <p:cNvSpPr/>
          <p:nvPr/>
        </p:nvSpPr>
        <p:spPr>
          <a:xfrm>
            <a:off x="685800" y="4160520"/>
            <a:ext cx="566928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5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8870" y="4313590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Text 7"/>
          <p:cNvSpPr txBox="1"/>
          <p:nvPr/>
        </p:nvSpPr>
        <p:spPr>
          <a:xfrm>
            <a:off x="548638" y="4913815"/>
            <a:ext cx="273177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Sequential</a:t>
            </a:r>
          </a:p>
        </p:txBody>
      </p:sp>
      <p:sp>
        <p:nvSpPr>
          <p:cNvPr id="154" name="Text 8"/>
          <p:cNvSpPr txBox="1"/>
          <p:nvPr/>
        </p:nvSpPr>
        <p:spPr>
          <a:xfrm>
            <a:off x="548638" y="5600744"/>
            <a:ext cx="273177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Steps happen in a defined, ordered sequence</a:t>
            </a:r>
          </a:p>
        </p:txBody>
      </p:sp>
      <p:sp>
        <p:nvSpPr>
          <p:cNvPr id="155" name="Shape 9"/>
          <p:cNvSpPr/>
          <p:nvPr/>
        </p:nvSpPr>
        <p:spPr>
          <a:xfrm>
            <a:off x="3463290" y="4160520"/>
            <a:ext cx="566931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5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616361" y="4313590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 10"/>
          <p:cNvSpPr txBox="1"/>
          <p:nvPr/>
        </p:nvSpPr>
        <p:spPr>
          <a:xfrm>
            <a:off x="3326129" y="4913815"/>
            <a:ext cx="273177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Repeatable</a:t>
            </a:r>
          </a:p>
        </p:txBody>
      </p:sp>
      <p:sp>
        <p:nvSpPr>
          <p:cNvPr id="158" name="Text 11"/>
          <p:cNvSpPr txBox="1"/>
          <p:nvPr/>
        </p:nvSpPr>
        <p:spPr>
          <a:xfrm>
            <a:off x="3326129" y="5600744"/>
            <a:ext cx="27317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Same steps → same result, every time</a:t>
            </a:r>
          </a:p>
        </p:txBody>
      </p:sp>
      <p:sp>
        <p:nvSpPr>
          <p:cNvPr id="159" name="Shape 12"/>
          <p:cNvSpPr/>
          <p:nvPr/>
        </p:nvSpPr>
        <p:spPr>
          <a:xfrm>
            <a:off x="6240779" y="4160520"/>
            <a:ext cx="566931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60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93850" y="4313590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Text 13"/>
          <p:cNvSpPr txBox="1"/>
          <p:nvPr/>
        </p:nvSpPr>
        <p:spPr>
          <a:xfrm>
            <a:off x="6103620" y="4913815"/>
            <a:ext cx="273177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Well-Defined</a:t>
            </a:r>
          </a:p>
        </p:txBody>
      </p:sp>
      <p:sp>
        <p:nvSpPr>
          <p:cNvPr id="162" name="Text 14"/>
          <p:cNvSpPr txBox="1"/>
          <p:nvPr/>
        </p:nvSpPr>
        <p:spPr>
          <a:xfrm>
            <a:off x="6103620" y="5600744"/>
            <a:ext cx="27317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Each step is clear &amp; unambiguous</a:t>
            </a:r>
          </a:p>
        </p:txBody>
      </p:sp>
      <p:sp>
        <p:nvSpPr>
          <p:cNvPr id="163" name="Shape 15"/>
          <p:cNvSpPr/>
          <p:nvPr/>
        </p:nvSpPr>
        <p:spPr>
          <a:xfrm>
            <a:off x="9018268" y="4160520"/>
            <a:ext cx="566931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64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171340" y="4313590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16"/>
          <p:cNvSpPr txBox="1"/>
          <p:nvPr/>
        </p:nvSpPr>
        <p:spPr>
          <a:xfrm>
            <a:off x="8881109" y="4913815"/>
            <a:ext cx="273177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Followable</a:t>
            </a:r>
          </a:p>
        </p:txBody>
      </p:sp>
      <p:sp>
        <p:nvSpPr>
          <p:cNvPr id="166" name="Text 17"/>
          <p:cNvSpPr txBox="1"/>
          <p:nvPr/>
        </p:nvSpPr>
        <p:spPr>
          <a:xfrm>
            <a:off x="8881109" y="5600744"/>
            <a:ext cx="27317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Anyone can execute it &amp; get the same outcome</a:t>
            </a:r>
          </a:p>
        </p:txBody>
      </p:sp>
      <p:sp>
        <p:nvSpPr>
          <p:cNvPr id="167" name="Text 18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ALGORITHMS</a:t>
            </a:r>
          </a:p>
        </p:txBody>
      </p:sp>
      <p:sp>
        <p:nvSpPr>
          <p:cNvPr id="168" name="Text 19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CORE CONCEPT</a:t>
            </a:r>
          </a:p>
        </p:txBody>
      </p:sp>
      <p:sp>
        <p:nvSpPr>
          <p:cNvPr id="172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Algorithm Principles</a:t>
            </a:r>
          </a:p>
        </p:txBody>
      </p:sp>
      <p:sp>
        <p:nvSpPr>
          <p:cNvPr id="173" name="Shape 3"/>
          <p:cNvSpPr/>
          <p:nvPr/>
        </p:nvSpPr>
        <p:spPr>
          <a:xfrm>
            <a:off x="9418318" y="457200"/>
            <a:ext cx="2240282" cy="38404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Text 4"/>
          <p:cNvSpPr txBox="1"/>
          <p:nvPr/>
        </p:nvSpPr>
        <p:spPr>
          <a:xfrm>
            <a:off x="9418318" y="563117"/>
            <a:ext cx="2240282" cy="172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★ IMPORTANT</a:t>
            </a:r>
          </a:p>
        </p:txBody>
      </p:sp>
      <p:sp>
        <p:nvSpPr>
          <p:cNvPr id="175" name="Shape 5"/>
          <p:cNvSpPr/>
          <p:nvPr/>
        </p:nvSpPr>
        <p:spPr>
          <a:xfrm>
            <a:off x="502919" y="1874520"/>
            <a:ext cx="5440682" cy="1024130"/>
          </a:xfrm>
          <a:prstGeom prst="roundRect">
            <a:avLst>
              <a:gd name="adj" fmla="val 803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" name="Shape 6"/>
          <p:cNvSpPr/>
          <p:nvPr/>
        </p:nvSpPr>
        <p:spPr>
          <a:xfrm>
            <a:off x="667512" y="2121406"/>
            <a:ext cx="530353" cy="53035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0707" y="2264603"/>
            <a:ext cx="243963" cy="243964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 7"/>
          <p:cNvSpPr txBox="1"/>
          <p:nvPr/>
        </p:nvSpPr>
        <p:spPr>
          <a:xfrm>
            <a:off x="1344166" y="2060886"/>
            <a:ext cx="443484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1.  End-User Experience</a:t>
            </a:r>
          </a:p>
        </p:txBody>
      </p:sp>
      <p:sp>
        <p:nvSpPr>
          <p:cNvPr id="179" name="Text 8"/>
          <p:cNvSpPr txBox="1"/>
          <p:nvPr/>
        </p:nvSpPr>
        <p:spPr>
          <a:xfrm>
            <a:off x="1344166" y="2505499"/>
            <a:ext cx="443484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Design the algorithm around how it will actually be used</a:t>
            </a:r>
          </a:p>
        </p:txBody>
      </p:sp>
      <p:sp>
        <p:nvSpPr>
          <p:cNvPr id="180" name="Shape 9"/>
          <p:cNvSpPr/>
          <p:nvPr/>
        </p:nvSpPr>
        <p:spPr>
          <a:xfrm>
            <a:off x="6263640" y="1874520"/>
            <a:ext cx="5440682" cy="1024130"/>
          </a:xfrm>
          <a:prstGeom prst="roundRect">
            <a:avLst>
              <a:gd name="adj" fmla="val 803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Shape 10"/>
          <p:cNvSpPr/>
          <p:nvPr/>
        </p:nvSpPr>
        <p:spPr>
          <a:xfrm>
            <a:off x="6428232" y="2121406"/>
            <a:ext cx="530355" cy="53035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71426" y="2264603"/>
            <a:ext cx="243964" cy="243964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 11"/>
          <p:cNvSpPr txBox="1"/>
          <p:nvPr/>
        </p:nvSpPr>
        <p:spPr>
          <a:xfrm>
            <a:off x="7104888" y="2060886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2.  Meaningful Variables Names</a:t>
            </a:r>
          </a:p>
        </p:txBody>
      </p:sp>
      <p:sp>
        <p:nvSpPr>
          <p:cNvPr id="184" name="Text 12"/>
          <p:cNvSpPr txBox="1"/>
          <p:nvPr/>
        </p:nvSpPr>
        <p:spPr>
          <a:xfrm>
            <a:off x="7104888" y="2505499"/>
            <a:ext cx="4434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Variable names should clearly reflect their purpose</a:t>
            </a:r>
          </a:p>
        </p:txBody>
      </p:sp>
      <p:sp>
        <p:nvSpPr>
          <p:cNvPr id="185" name="Shape 13"/>
          <p:cNvSpPr/>
          <p:nvPr/>
        </p:nvSpPr>
        <p:spPr>
          <a:xfrm>
            <a:off x="502919" y="3063238"/>
            <a:ext cx="5440682" cy="1024130"/>
          </a:xfrm>
          <a:prstGeom prst="roundRect">
            <a:avLst>
              <a:gd name="adj" fmla="val 803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Shape 14"/>
          <p:cNvSpPr/>
          <p:nvPr/>
        </p:nvSpPr>
        <p:spPr>
          <a:xfrm>
            <a:off x="667512" y="3310128"/>
            <a:ext cx="530353" cy="53035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0707" y="3453322"/>
            <a:ext cx="243963" cy="243964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 15"/>
          <p:cNvSpPr txBox="1"/>
          <p:nvPr/>
        </p:nvSpPr>
        <p:spPr>
          <a:xfrm>
            <a:off x="1344166" y="3249607"/>
            <a:ext cx="443484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3.  Coding Style</a:t>
            </a:r>
          </a:p>
        </p:txBody>
      </p:sp>
      <p:sp>
        <p:nvSpPr>
          <p:cNvPr id="189" name="Text 16"/>
          <p:cNvSpPr txBox="1"/>
          <p:nvPr/>
        </p:nvSpPr>
        <p:spPr>
          <a:xfrm>
            <a:off x="1344166" y="3694219"/>
            <a:ext cx="443484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Follow one consistent set of rules across the whole team</a:t>
            </a:r>
          </a:p>
        </p:txBody>
      </p:sp>
      <p:sp>
        <p:nvSpPr>
          <p:cNvPr id="190" name="Shape 17"/>
          <p:cNvSpPr/>
          <p:nvPr/>
        </p:nvSpPr>
        <p:spPr>
          <a:xfrm>
            <a:off x="6263640" y="3063238"/>
            <a:ext cx="5440682" cy="1024130"/>
          </a:xfrm>
          <a:prstGeom prst="roundRect">
            <a:avLst>
              <a:gd name="adj" fmla="val 803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1" name="Shape 18"/>
          <p:cNvSpPr/>
          <p:nvPr/>
        </p:nvSpPr>
        <p:spPr>
          <a:xfrm>
            <a:off x="6428232" y="3310128"/>
            <a:ext cx="530355" cy="53035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9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71426" y="3453322"/>
            <a:ext cx="243964" cy="243964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xt 19"/>
          <p:cNvSpPr txBox="1"/>
          <p:nvPr/>
        </p:nvSpPr>
        <p:spPr>
          <a:xfrm>
            <a:off x="7104888" y="3249607"/>
            <a:ext cx="443484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4.  Correctness</a:t>
            </a:r>
          </a:p>
        </p:txBody>
      </p:sp>
      <p:sp>
        <p:nvSpPr>
          <p:cNvPr id="194" name="Text 20"/>
          <p:cNvSpPr txBox="1"/>
          <p:nvPr/>
        </p:nvSpPr>
        <p:spPr>
          <a:xfrm>
            <a:off x="7104888" y="3694219"/>
            <a:ext cx="4434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algorithm must produce the right result every time</a:t>
            </a:r>
          </a:p>
        </p:txBody>
      </p:sp>
      <p:sp>
        <p:nvSpPr>
          <p:cNvPr id="195" name="Shape 21"/>
          <p:cNvSpPr/>
          <p:nvPr/>
        </p:nvSpPr>
        <p:spPr>
          <a:xfrm>
            <a:off x="502919" y="4251959"/>
            <a:ext cx="5440682" cy="1024130"/>
          </a:xfrm>
          <a:prstGeom prst="roundRect">
            <a:avLst>
              <a:gd name="adj" fmla="val 803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" name="Shape 22"/>
          <p:cNvSpPr/>
          <p:nvPr/>
        </p:nvSpPr>
        <p:spPr>
          <a:xfrm>
            <a:off x="667512" y="4498847"/>
            <a:ext cx="530353" cy="53035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97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10707" y="4642043"/>
            <a:ext cx="243963" cy="243964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Text 23"/>
          <p:cNvSpPr txBox="1"/>
          <p:nvPr/>
        </p:nvSpPr>
        <p:spPr>
          <a:xfrm>
            <a:off x="1344166" y="4438327"/>
            <a:ext cx="443484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5.  Multiple Solutions</a:t>
            </a:r>
          </a:p>
        </p:txBody>
      </p:sp>
      <p:sp>
        <p:nvSpPr>
          <p:cNvPr id="199" name="Text 24"/>
          <p:cNvSpPr txBox="1"/>
          <p:nvPr/>
        </p:nvSpPr>
        <p:spPr>
          <a:xfrm>
            <a:off x="1344166" y="4882939"/>
            <a:ext cx="443484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Explore more than one approach before choosing one</a:t>
            </a:r>
          </a:p>
        </p:txBody>
      </p:sp>
      <p:sp>
        <p:nvSpPr>
          <p:cNvPr id="200" name="Shape 25"/>
          <p:cNvSpPr/>
          <p:nvPr/>
        </p:nvSpPr>
        <p:spPr>
          <a:xfrm>
            <a:off x="6263640" y="4251959"/>
            <a:ext cx="5440682" cy="1024130"/>
          </a:xfrm>
          <a:prstGeom prst="roundRect">
            <a:avLst>
              <a:gd name="adj" fmla="val 803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Shape 26"/>
          <p:cNvSpPr/>
          <p:nvPr/>
        </p:nvSpPr>
        <p:spPr>
          <a:xfrm>
            <a:off x="6428232" y="4498847"/>
            <a:ext cx="530355" cy="53035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02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571426" y="4642043"/>
            <a:ext cx="243964" cy="243964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ext 27"/>
          <p:cNvSpPr txBox="1"/>
          <p:nvPr/>
        </p:nvSpPr>
        <p:spPr>
          <a:xfrm>
            <a:off x="7104888" y="4438327"/>
            <a:ext cx="44348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6.  No Duplicate Code</a:t>
            </a:r>
          </a:p>
        </p:txBody>
      </p:sp>
      <p:sp>
        <p:nvSpPr>
          <p:cNvPr id="204" name="Text 28"/>
          <p:cNvSpPr txBox="1"/>
          <p:nvPr/>
        </p:nvSpPr>
        <p:spPr>
          <a:xfrm>
            <a:off x="7104888" y="4882939"/>
            <a:ext cx="443484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Reuse logic instead of repeating it (DRY principle)</a:t>
            </a:r>
          </a:p>
        </p:txBody>
      </p:sp>
      <p:sp>
        <p:nvSpPr>
          <p:cNvPr id="205" name="Shape 29"/>
          <p:cNvSpPr/>
          <p:nvPr/>
        </p:nvSpPr>
        <p:spPr>
          <a:xfrm>
            <a:off x="502919" y="5440679"/>
            <a:ext cx="5440682" cy="1024130"/>
          </a:xfrm>
          <a:prstGeom prst="roundRect">
            <a:avLst>
              <a:gd name="adj" fmla="val 803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Shape 30"/>
          <p:cNvSpPr/>
          <p:nvPr/>
        </p:nvSpPr>
        <p:spPr>
          <a:xfrm>
            <a:off x="667512" y="5687567"/>
            <a:ext cx="530353" cy="53035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07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10707" y="5830763"/>
            <a:ext cx="243963" cy="243964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 31"/>
          <p:cNvSpPr txBox="1"/>
          <p:nvPr/>
        </p:nvSpPr>
        <p:spPr>
          <a:xfrm>
            <a:off x="1344166" y="5627046"/>
            <a:ext cx="4434844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7.  Code Optimization</a:t>
            </a:r>
          </a:p>
        </p:txBody>
      </p:sp>
      <p:sp>
        <p:nvSpPr>
          <p:cNvPr id="209" name="Text 32"/>
          <p:cNvSpPr txBox="1"/>
          <p:nvPr/>
        </p:nvSpPr>
        <p:spPr>
          <a:xfrm>
            <a:off x="1344166" y="6071660"/>
            <a:ext cx="443484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Refine for speed &amp; efficiency once it is correct</a:t>
            </a:r>
          </a:p>
        </p:txBody>
      </p:sp>
      <p:sp>
        <p:nvSpPr>
          <p:cNvPr id="210" name="Text 33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ALGORITHM PRINCIPLES</a:t>
            </a:r>
          </a:p>
        </p:txBody>
      </p:sp>
      <p:sp>
        <p:nvSpPr>
          <p:cNvPr id="211" name="Text 34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WORKED EXAMPLE</a:t>
            </a:r>
          </a:p>
        </p:txBody>
      </p:sp>
      <p:sp>
        <p:nvSpPr>
          <p:cNvPr id="214" name="Text 1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Fibonacci Series — Algorithm</a:t>
            </a:r>
          </a:p>
        </p:txBody>
      </p:sp>
      <p:sp>
        <p:nvSpPr>
          <p:cNvPr id="215" name="Text 3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ALGORITHM — FIBONACCI SERIES</a:t>
            </a:r>
          </a:p>
        </p:txBody>
      </p:sp>
      <p:sp>
        <p:nvSpPr>
          <p:cNvPr id="216" name="Text 4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21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2000" y="1435608"/>
            <a:ext cx="8128000" cy="4836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0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VISUAL REPRESENTATION</a:t>
            </a:r>
          </a:p>
        </p:txBody>
      </p:sp>
      <p:sp>
        <p:nvSpPr>
          <p:cNvPr id="221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Flowchart Symbols &amp; Rules</a:t>
            </a:r>
          </a:p>
        </p:txBody>
      </p:sp>
      <p:sp>
        <p:nvSpPr>
          <p:cNvPr id="222" name="Shape 3"/>
          <p:cNvSpPr/>
          <p:nvPr/>
        </p:nvSpPr>
        <p:spPr>
          <a:xfrm>
            <a:off x="502919" y="1874520"/>
            <a:ext cx="11155682" cy="1078994"/>
          </a:xfrm>
          <a:prstGeom prst="roundRect">
            <a:avLst>
              <a:gd name="adj" fmla="val 7627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3" name="Shape 4"/>
          <p:cNvSpPr/>
          <p:nvPr/>
        </p:nvSpPr>
        <p:spPr>
          <a:xfrm>
            <a:off x="868680" y="2103120"/>
            <a:ext cx="1737362" cy="621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600" y="0"/>
                </a:moveTo>
                <a:lnTo>
                  <a:pt x="18000" y="0"/>
                </a:lnTo>
                <a:cubicBezTo>
                  <a:pt x="19988" y="0"/>
                  <a:pt x="21600" y="4835"/>
                  <a:pt x="21600" y="10800"/>
                </a:cubicBezTo>
                <a:cubicBezTo>
                  <a:pt x="21600" y="16765"/>
                  <a:pt x="19988" y="21600"/>
                  <a:pt x="18000" y="21600"/>
                </a:cubicBezTo>
                <a:lnTo>
                  <a:pt x="3600" y="21600"/>
                </a:lnTo>
                <a:cubicBezTo>
                  <a:pt x="1612" y="21600"/>
                  <a:pt x="0" y="16765"/>
                  <a:pt x="0" y="10800"/>
                </a:cubicBezTo>
                <a:cubicBezTo>
                  <a:pt x="0" y="4835"/>
                  <a:pt x="1612" y="0"/>
                  <a:pt x="36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2708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4" name="Text 5"/>
          <p:cNvSpPr txBox="1"/>
          <p:nvPr/>
        </p:nvSpPr>
        <p:spPr>
          <a:xfrm>
            <a:off x="2880360" y="2128713"/>
            <a:ext cx="32918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Capsule (Terminator)</a:t>
            </a:r>
          </a:p>
        </p:txBody>
      </p:sp>
      <p:sp>
        <p:nvSpPr>
          <p:cNvPr id="225" name="Text 6"/>
          <p:cNvSpPr txBox="1"/>
          <p:nvPr/>
        </p:nvSpPr>
        <p:spPr>
          <a:xfrm>
            <a:off x="2880360" y="2555039"/>
            <a:ext cx="85496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Start / Stop — marks the beginning and end of the flowchart</a:t>
            </a:r>
          </a:p>
        </p:txBody>
      </p:sp>
      <p:sp>
        <p:nvSpPr>
          <p:cNvPr id="226" name="Shape 7"/>
          <p:cNvSpPr/>
          <p:nvPr/>
        </p:nvSpPr>
        <p:spPr>
          <a:xfrm>
            <a:off x="502919" y="3063238"/>
            <a:ext cx="11155682" cy="1078994"/>
          </a:xfrm>
          <a:prstGeom prst="roundRect">
            <a:avLst>
              <a:gd name="adj" fmla="val 7627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7" name="Shape 8"/>
          <p:cNvSpPr/>
          <p:nvPr/>
        </p:nvSpPr>
        <p:spPr>
          <a:xfrm>
            <a:off x="868680" y="3291840"/>
            <a:ext cx="1737362" cy="621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933" y="0"/>
                </a:lnTo>
                <a:lnTo>
                  <a:pt x="21600" y="0"/>
                </a:lnTo>
                <a:lnTo>
                  <a:pt x="19667" y="216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12708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8" name="Text 9"/>
          <p:cNvSpPr txBox="1"/>
          <p:nvPr/>
        </p:nvSpPr>
        <p:spPr>
          <a:xfrm>
            <a:off x="2880360" y="3317433"/>
            <a:ext cx="32918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Parallelogram</a:t>
            </a:r>
          </a:p>
        </p:txBody>
      </p:sp>
      <p:sp>
        <p:nvSpPr>
          <p:cNvPr id="229" name="Text 10"/>
          <p:cNvSpPr txBox="1"/>
          <p:nvPr/>
        </p:nvSpPr>
        <p:spPr>
          <a:xfrm>
            <a:off x="2880360" y="3743759"/>
            <a:ext cx="85496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Print / Read — Input &amp; Output operations</a:t>
            </a:r>
          </a:p>
        </p:txBody>
      </p:sp>
      <p:sp>
        <p:nvSpPr>
          <p:cNvPr id="230" name="Shape 11"/>
          <p:cNvSpPr/>
          <p:nvPr/>
        </p:nvSpPr>
        <p:spPr>
          <a:xfrm>
            <a:off x="502919" y="4251959"/>
            <a:ext cx="11155682" cy="1078994"/>
          </a:xfrm>
          <a:prstGeom prst="roundRect">
            <a:avLst>
              <a:gd name="adj" fmla="val 7627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Shape 12"/>
          <p:cNvSpPr/>
          <p:nvPr/>
        </p:nvSpPr>
        <p:spPr>
          <a:xfrm>
            <a:off x="868680" y="4480559"/>
            <a:ext cx="1737362" cy="621794"/>
          </a:xfrm>
          <a:prstGeom prst="rect">
            <a:avLst/>
          </a:prstGeom>
          <a:solidFill>
            <a:srgbClr val="FFFFFF"/>
          </a:solidFill>
          <a:ln w="28575">
            <a:solidFill>
              <a:srgbClr val="12708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Text 13"/>
          <p:cNvSpPr txBox="1"/>
          <p:nvPr/>
        </p:nvSpPr>
        <p:spPr>
          <a:xfrm>
            <a:off x="2880360" y="4506154"/>
            <a:ext cx="32918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Rectangle</a:t>
            </a:r>
          </a:p>
        </p:txBody>
      </p:sp>
      <p:sp>
        <p:nvSpPr>
          <p:cNvPr id="233" name="Text 14"/>
          <p:cNvSpPr txBox="1"/>
          <p:nvPr/>
        </p:nvSpPr>
        <p:spPr>
          <a:xfrm>
            <a:off x="2880360" y="4932479"/>
            <a:ext cx="85496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Assignment statements — where a variable is given a value</a:t>
            </a:r>
          </a:p>
        </p:txBody>
      </p:sp>
      <p:sp>
        <p:nvSpPr>
          <p:cNvPr id="234" name="Shape 15"/>
          <p:cNvSpPr/>
          <p:nvPr/>
        </p:nvSpPr>
        <p:spPr>
          <a:xfrm>
            <a:off x="502919" y="5440679"/>
            <a:ext cx="11155682" cy="1078994"/>
          </a:xfrm>
          <a:prstGeom prst="roundRect">
            <a:avLst>
              <a:gd name="adj" fmla="val 7627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Shape 16"/>
          <p:cNvSpPr/>
          <p:nvPr/>
        </p:nvSpPr>
        <p:spPr>
          <a:xfrm>
            <a:off x="868680" y="5669279"/>
            <a:ext cx="1737362" cy="621794"/>
          </a:xfrm>
          <a:prstGeom prst="diamond">
            <a:avLst/>
          </a:prstGeom>
          <a:solidFill>
            <a:srgbClr val="FFFFFF"/>
          </a:solidFill>
          <a:ln w="28575">
            <a:solidFill>
              <a:srgbClr val="12708C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6" name="Text 17"/>
          <p:cNvSpPr txBox="1"/>
          <p:nvPr/>
        </p:nvSpPr>
        <p:spPr>
          <a:xfrm>
            <a:off x="2880360" y="5694872"/>
            <a:ext cx="32918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Rhombus</a:t>
            </a:r>
          </a:p>
        </p:txBody>
      </p:sp>
      <p:sp>
        <p:nvSpPr>
          <p:cNvPr id="237" name="Text 18"/>
          <p:cNvSpPr txBox="1"/>
          <p:nvPr/>
        </p:nvSpPr>
        <p:spPr>
          <a:xfrm>
            <a:off x="2880360" y="6121198"/>
            <a:ext cx="85496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If conditions — decision points with Yes / No branches</a:t>
            </a:r>
          </a:p>
        </p:txBody>
      </p:sp>
      <p:sp>
        <p:nvSpPr>
          <p:cNvPr id="238" name="Text 19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FLOWCHART NOTATION</a:t>
            </a:r>
          </a:p>
        </p:txBody>
      </p:sp>
      <p:sp>
        <p:nvSpPr>
          <p:cNvPr id="239" name="Text 20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WORKED EXAMPLE</a:t>
            </a:r>
          </a:p>
        </p:txBody>
      </p:sp>
      <p:sp>
        <p:nvSpPr>
          <p:cNvPr id="242" name="Text 1"/>
          <p:cNvSpPr txBox="1"/>
          <p:nvPr/>
        </p:nvSpPr>
        <p:spPr>
          <a:xfrm>
            <a:off x="502918" y="850138"/>
            <a:ext cx="1060704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Fibonacci Series — Flowchart</a:t>
            </a:r>
          </a:p>
        </p:txBody>
      </p:sp>
      <p:sp>
        <p:nvSpPr>
          <p:cNvPr id="243" name="Text 3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FLOWCHART — FIBONACCI SERIES</a:t>
            </a:r>
          </a:p>
        </p:txBody>
      </p:sp>
      <p:sp>
        <p:nvSpPr>
          <p:cNvPr id="244" name="Text 4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8</a:t>
            </a:r>
          </a:p>
        </p:txBody>
      </p:sp>
      <p:pic>
        <p:nvPicPr>
          <p:cNvPr id="245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0305" y="359617"/>
            <a:ext cx="3645263" cy="63399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8" name="Text 1"/>
          <p:cNvSpPr txBox="1"/>
          <p:nvPr/>
        </p:nvSpPr>
        <p:spPr>
          <a:xfrm>
            <a:off x="502919" y="4646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COMMAND LINE BASICS</a:t>
            </a:r>
          </a:p>
        </p:txBody>
      </p:sp>
      <p:sp>
        <p:nvSpPr>
          <p:cNvPr id="249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Essential Linux Commands</a:t>
            </a:r>
          </a:p>
        </p:txBody>
      </p:sp>
      <p:sp>
        <p:nvSpPr>
          <p:cNvPr id="250" name="Shape 3"/>
          <p:cNvSpPr/>
          <p:nvPr/>
        </p:nvSpPr>
        <p:spPr>
          <a:xfrm>
            <a:off x="502919" y="1828800"/>
            <a:ext cx="3566162" cy="4251960"/>
          </a:xfrm>
          <a:prstGeom prst="roundRect">
            <a:avLst>
              <a:gd name="adj" fmla="val 2308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Text 4"/>
          <p:cNvSpPr txBox="1"/>
          <p:nvPr/>
        </p:nvSpPr>
        <p:spPr>
          <a:xfrm>
            <a:off x="758950" y="2058732"/>
            <a:ext cx="30541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Navigation</a:t>
            </a:r>
          </a:p>
        </p:txBody>
      </p:sp>
      <p:sp>
        <p:nvSpPr>
          <p:cNvPr id="252" name="Text 5"/>
          <p:cNvSpPr txBox="1"/>
          <p:nvPr/>
        </p:nvSpPr>
        <p:spPr>
          <a:xfrm>
            <a:off x="758950" y="2416555"/>
            <a:ext cx="30541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pwd</a:t>
            </a:r>
          </a:p>
        </p:txBody>
      </p:sp>
      <p:sp>
        <p:nvSpPr>
          <p:cNvPr id="253" name="Text 6"/>
          <p:cNvSpPr txBox="1"/>
          <p:nvPr/>
        </p:nvSpPr>
        <p:spPr>
          <a:xfrm>
            <a:off x="758950" y="2868293"/>
            <a:ext cx="30541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Print current working directory</a:t>
            </a:r>
          </a:p>
        </p:txBody>
      </p:sp>
      <p:sp>
        <p:nvSpPr>
          <p:cNvPr id="254" name="Text 7"/>
          <p:cNvSpPr txBox="1"/>
          <p:nvPr/>
        </p:nvSpPr>
        <p:spPr>
          <a:xfrm>
            <a:off x="758950" y="3296665"/>
            <a:ext cx="30541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ls -la</a:t>
            </a:r>
          </a:p>
        </p:txBody>
      </p:sp>
      <p:sp>
        <p:nvSpPr>
          <p:cNvPr id="255" name="Text 8"/>
          <p:cNvSpPr txBox="1"/>
          <p:nvPr/>
        </p:nvSpPr>
        <p:spPr>
          <a:xfrm>
            <a:off x="758950" y="3748404"/>
            <a:ext cx="30541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List all files, incl. hidden, with details</a:t>
            </a:r>
          </a:p>
        </p:txBody>
      </p:sp>
      <p:sp>
        <p:nvSpPr>
          <p:cNvPr id="256" name="Text 9"/>
          <p:cNvSpPr txBox="1"/>
          <p:nvPr/>
        </p:nvSpPr>
        <p:spPr>
          <a:xfrm>
            <a:off x="758950" y="4176776"/>
            <a:ext cx="30541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cd &lt;dir&gt;</a:t>
            </a:r>
          </a:p>
        </p:txBody>
      </p:sp>
      <p:sp>
        <p:nvSpPr>
          <p:cNvPr id="257" name="Text 10"/>
          <p:cNvSpPr txBox="1"/>
          <p:nvPr/>
        </p:nvSpPr>
        <p:spPr>
          <a:xfrm>
            <a:off x="758950" y="4628513"/>
            <a:ext cx="30541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Change into a directory</a:t>
            </a:r>
          </a:p>
        </p:txBody>
      </p:sp>
      <p:sp>
        <p:nvSpPr>
          <p:cNvPr id="258" name="Text 11"/>
          <p:cNvSpPr txBox="1"/>
          <p:nvPr/>
        </p:nvSpPr>
        <p:spPr>
          <a:xfrm>
            <a:off x="758950" y="5056885"/>
            <a:ext cx="30541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mkdir &lt;dir&gt;</a:t>
            </a:r>
          </a:p>
        </p:txBody>
      </p:sp>
      <p:sp>
        <p:nvSpPr>
          <p:cNvPr id="259" name="Text 12"/>
          <p:cNvSpPr txBox="1"/>
          <p:nvPr/>
        </p:nvSpPr>
        <p:spPr>
          <a:xfrm>
            <a:off x="758950" y="5508624"/>
            <a:ext cx="30541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Create a new directory</a:t>
            </a:r>
          </a:p>
        </p:txBody>
      </p:sp>
      <p:sp>
        <p:nvSpPr>
          <p:cNvPr id="260" name="Shape 13"/>
          <p:cNvSpPr/>
          <p:nvPr/>
        </p:nvSpPr>
        <p:spPr>
          <a:xfrm>
            <a:off x="4251959" y="1828800"/>
            <a:ext cx="3566162" cy="4251960"/>
          </a:xfrm>
          <a:prstGeom prst="roundRect">
            <a:avLst>
              <a:gd name="adj" fmla="val 2308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1" name="Text 14"/>
          <p:cNvSpPr txBox="1"/>
          <p:nvPr/>
        </p:nvSpPr>
        <p:spPr>
          <a:xfrm>
            <a:off x="4507991" y="2058732"/>
            <a:ext cx="305409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Files</a:t>
            </a:r>
          </a:p>
        </p:txBody>
      </p:sp>
      <p:sp>
        <p:nvSpPr>
          <p:cNvPr id="262" name="Text 15"/>
          <p:cNvSpPr txBox="1"/>
          <p:nvPr/>
        </p:nvSpPr>
        <p:spPr>
          <a:xfrm>
            <a:off x="4507991" y="2416555"/>
            <a:ext cx="30540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touch &lt;file&gt;</a:t>
            </a:r>
          </a:p>
        </p:txBody>
      </p:sp>
      <p:sp>
        <p:nvSpPr>
          <p:cNvPr id="263" name="Text 16"/>
          <p:cNvSpPr txBox="1"/>
          <p:nvPr/>
        </p:nvSpPr>
        <p:spPr>
          <a:xfrm>
            <a:off x="4507991" y="2868293"/>
            <a:ext cx="3054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Create an empty file</a:t>
            </a:r>
          </a:p>
        </p:txBody>
      </p:sp>
      <p:sp>
        <p:nvSpPr>
          <p:cNvPr id="264" name="Text 17"/>
          <p:cNvSpPr txBox="1"/>
          <p:nvPr/>
        </p:nvSpPr>
        <p:spPr>
          <a:xfrm>
            <a:off x="4507991" y="3296665"/>
            <a:ext cx="30540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cp a b</a:t>
            </a:r>
          </a:p>
        </p:txBody>
      </p:sp>
      <p:sp>
        <p:nvSpPr>
          <p:cNvPr id="265" name="Text 18"/>
          <p:cNvSpPr txBox="1"/>
          <p:nvPr/>
        </p:nvSpPr>
        <p:spPr>
          <a:xfrm>
            <a:off x="4507991" y="3748404"/>
            <a:ext cx="3054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Copy file a to b</a:t>
            </a:r>
          </a:p>
        </p:txBody>
      </p:sp>
      <p:sp>
        <p:nvSpPr>
          <p:cNvPr id="266" name="Text 19"/>
          <p:cNvSpPr txBox="1"/>
          <p:nvPr/>
        </p:nvSpPr>
        <p:spPr>
          <a:xfrm>
            <a:off x="4507991" y="4176776"/>
            <a:ext cx="30540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mv a b</a:t>
            </a:r>
          </a:p>
        </p:txBody>
      </p:sp>
      <p:sp>
        <p:nvSpPr>
          <p:cNvPr id="267" name="Text 20"/>
          <p:cNvSpPr txBox="1"/>
          <p:nvPr/>
        </p:nvSpPr>
        <p:spPr>
          <a:xfrm>
            <a:off x="4507991" y="4628513"/>
            <a:ext cx="3054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Move / rename file a to b</a:t>
            </a:r>
          </a:p>
        </p:txBody>
      </p:sp>
      <p:sp>
        <p:nvSpPr>
          <p:cNvPr id="268" name="Text 21"/>
          <p:cNvSpPr txBox="1"/>
          <p:nvPr/>
        </p:nvSpPr>
        <p:spPr>
          <a:xfrm>
            <a:off x="4507991" y="5056885"/>
            <a:ext cx="305409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rm &lt;file&gt;</a:t>
            </a:r>
          </a:p>
        </p:txBody>
      </p:sp>
      <p:sp>
        <p:nvSpPr>
          <p:cNvPr id="269" name="Text 22"/>
          <p:cNvSpPr txBox="1"/>
          <p:nvPr/>
        </p:nvSpPr>
        <p:spPr>
          <a:xfrm>
            <a:off x="4507991" y="5508624"/>
            <a:ext cx="30540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Remove a file (rm -r for folders)</a:t>
            </a:r>
          </a:p>
        </p:txBody>
      </p:sp>
      <p:sp>
        <p:nvSpPr>
          <p:cNvPr id="270" name="Shape 23"/>
          <p:cNvSpPr/>
          <p:nvPr/>
        </p:nvSpPr>
        <p:spPr>
          <a:xfrm>
            <a:off x="8001000" y="1828800"/>
            <a:ext cx="3657600" cy="4251960"/>
          </a:xfrm>
          <a:prstGeom prst="roundRect">
            <a:avLst>
              <a:gd name="adj" fmla="val 2250"/>
            </a:avLst>
          </a:prstGeom>
          <a:solidFill>
            <a:srgbClr val="DCEEF2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Text 24"/>
          <p:cNvSpPr txBox="1"/>
          <p:nvPr/>
        </p:nvSpPr>
        <p:spPr>
          <a:xfrm>
            <a:off x="8257030" y="2058732"/>
            <a:ext cx="314553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Inspect &amp; Permissions</a:t>
            </a:r>
          </a:p>
        </p:txBody>
      </p:sp>
      <p:sp>
        <p:nvSpPr>
          <p:cNvPr id="272" name="Text 25"/>
          <p:cNvSpPr txBox="1"/>
          <p:nvPr/>
        </p:nvSpPr>
        <p:spPr>
          <a:xfrm>
            <a:off x="8257030" y="2416555"/>
            <a:ext cx="31455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cat &lt;file&gt;</a:t>
            </a:r>
          </a:p>
        </p:txBody>
      </p:sp>
      <p:sp>
        <p:nvSpPr>
          <p:cNvPr id="273" name="Text 26"/>
          <p:cNvSpPr txBox="1"/>
          <p:nvPr/>
        </p:nvSpPr>
        <p:spPr>
          <a:xfrm>
            <a:off x="8257030" y="2868293"/>
            <a:ext cx="31455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Print file contents to screen</a:t>
            </a:r>
          </a:p>
        </p:txBody>
      </p:sp>
      <p:sp>
        <p:nvSpPr>
          <p:cNvPr id="274" name="Text 27"/>
          <p:cNvSpPr txBox="1"/>
          <p:nvPr/>
        </p:nvSpPr>
        <p:spPr>
          <a:xfrm>
            <a:off x="8257030" y="3296665"/>
            <a:ext cx="31455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grep 'x' f</a:t>
            </a:r>
          </a:p>
        </p:txBody>
      </p:sp>
      <p:sp>
        <p:nvSpPr>
          <p:cNvPr id="275" name="Text 28"/>
          <p:cNvSpPr txBox="1"/>
          <p:nvPr/>
        </p:nvSpPr>
        <p:spPr>
          <a:xfrm>
            <a:off x="8257030" y="3748404"/>
            <a:ext cx="31455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Search for text 'x' inside file f</a:t>
            </a:r>
          </a:p>
        </p:txBody>
      </p:sp>
      <p:sp>
        <p:nvSpPr>
          <p:cNvPr id="276" name="Text 31"/>
          <p:cNvSpPr txBox="1"/>
          <p:nvPr/>
        </p:nvSpPr>
        <p:spPr>
          <a:xfrm>
            <a:off x="8257031" y="4308951"/>
            <a:ext cx="31455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sudo apt install</a:t>
            </a:r>
          </a:p>
        </p:txBody>
      </p:sp>
      <p:sp>
        <p:nvSpPr>
          <p:cNvPr id="277" name="Text 32"/>
          <p:cNvSpPr txBox="1"/>
          <p:nvPr/>
        </p:nvSpPr>
        <p:spPr>
          <a:xfrm>
            <a:off x="8257031" y="4794297"/>
            <a:ext cx="31455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Run a command as administrator</a:t>
            </a:r>
          </a:p>
        </p:txBody>
      </p:sp>
      <p:sp>
        <p:nvSpPr>
          <p:cNvPr id="278" name="Text 33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LINUX COMMANDS</a:t>
            </a:r>
          </a:p>
        </p:txBody>
      </p:sp>
      <p:sp>
        <p:nvSpPr>
          <p:cNvPr id="279" name="Text 34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VERSION CONTROL WORKFLOW</a:t>
            </a:r>
          </a:p>
        </p:txBody>
      </p:sp>
      <p:sp>
        <p:nvSpPr>
          <p:cNvPr id="283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Git &amp; GitHub Commands</a:t>
            </a:r>
          </a:p>
        </p:txBody>
      </p:sp>
      <p:sp>
        <p:nvSpPr>
          <p:cNvPr id="284" name="Shape 3"/>
          <p:cNvSpPr/>
          <p:nvPr/>
        </p:nvSpPr>
        <p:spPr>
          <a:xfrm>
            <a:off x="502919" y="1828800"/>
            <a:ext cx="3657602" cy="3063240"/>
          </a:xfrm>
          <a:prstGeom prst="roundRect">
            <a:avLst>
              <a:gd name="adj" fmla="val 2687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5" name="Text 4"/>
          <p:cNvSpPr txBox="1"/>
          <p:nvPr/>
        </p:nvSpPr>
        <p:spPr>
          <a:xfrm>
            <a:off x="758950" y="2058732"/>
            <a:ext cx="31455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Local Git Setup</a:t>
            </a:r>
          </a:p>
        </p:txBody>
      </p:sp>
      <p:sp>
        <p:nvSpPr>
          <p:cNvPr id="286" name="Text 5"/>
          <p:cNvSpPr txBox="1"/>
          <p:nvPr/>
        </p:nvSpPr>
        <p:spPr>
          <a:xfrm>
            <a:off x="758950" y="2416555"/>
            <a:ext cx="31455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config</a:t>
            </a:r>
          </a:p>
        </p:txBody>
      </p:sp>
      <p:sp>
        <p:nvSpPr>
          <p:cNvPr id="287" name="Text 6"/>
          <p:cNvSpPr txBox="1"/>
          <p:nvPr/>
        </p:nvSpPr>
        <p:spPr>
          <a:xfrm>
            <a:off x="758950" y="2622549"/>
            <a:ext cx="31455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Set your name &amp; email identity</a:t>
            </a:r>
          </a:p>
        </p:txBody>
      </p:sp>
      <p:sp>
        <p:nvSpPr>
          <p:cNvPr id="288" name="Text 7"/>
          <p:cNvSpPr txBox="1"/>
          <p:nvPr/>
        </p:nvSpPr>
        <p:spPr>
          <a:xfrm>
            <a:off x="758950" y="2805176"/>
            <a:ext cx="31455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init</a:t>
            </a:r>
          </a:p>
        </p:txBody>
      </p:sp>
      <p:sp>
        <p:nvSpPr>
          <p:cNvPr id="289" name="Text 8"/>
          <p:cNvSpPr txBox="1"/>
          <p:nvPr/>
        </p:nvSpPr>
        <p:spPr>
          <a:xfrm>
            <a:off x="758950" y="3011170"/>
            <a:ext cx="31455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Start tracking a folder with Git</a:t>
            </a:r>
          </a:p>
        </p:txBody>
      </p:sp>
      <p:sp>
        <p:nvSpPr>
          <p:cNvPr id="290" name="Text 9"/>
          <p:cNvSpPr txBox="1"/>
          <p:nvPr/>
        </p:nvSpPr>
        <p:spPr>
          <a:xfrm>
            <a:off x="758950" y="3193795"/>
            <a:ext cx="31455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status</a:t>
            </a:r>
          </a:p>
        </p:txBody>
      </p:sp>
      <p:sp>
        <p:nvSpPr>
          <p:cNvPr id="291" name="Text 10"/>
          <p:cNvSpPr txBox="1"/>
          <p:nvPr/>
        </p:nvSpPr>
        <p:spPr>
          <a:xfrm>
            <a:off x="758950" y="3399788"/>
            <a:ext cx="31455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Show tracked / untracked &amp; staged files</a:t>
            </a:r>
          </a:p>
        </p:txBody>
      </p:sp>
      <p:sp>
        <p:nvSpPr>
          <p:cNvPr id="292" name="Text 11"/>
          <p:cNvSpPr txBox="1"/>
          <p:nvPr/>
        </p:nvSpPr>
        <p:spPr>
          <a:xfrm>
            <a:off x="758950" y="3582415"/>
            <a:ext cx="31455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add &lt;f&gt;</a:t>
            </a:r>
          </a:p>
        </p:txBody>
      </p:sp>
      <p:sp>
        <p:nvSpPr>
          <p:cNvPr id="293" name="Text 12"/>
          <p:cNvSpPr txBox="1"/>
          <p:nvPr/>
        </p:nvSpPr>
        <p:spPr>
          <a:xfrm>
            <a:off x="758950" y="3788409"/>
            <a:ext cx="31455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Stage changes for the next commit</a:t>
            </a:r>
          </a:p>
        </p:txBody>
      </p:sp>
      <p:sp>
        <p:nvSpPr>
          <p:cNvPr id="294" name="Text 13"/>
          <p:cNvSpPr txBox="1"/>
          <p:nvPr/>
        </p:nvSpPr>
        <p:spPr>
          <a:xfrm>
            <a:off x="758950" y="3971035"/>
            <a:ext cx="31455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commit -m</a:t>
            </a:r>
          </a:p>
        </p:txBody>
      </p:sp>
      <p:sp>
        <p:nvSpPr>
          <p:cNvPr id="295" name="Text 14"/>
          <p:cNvSpPr txBox="1"/>
          <p:nvPr/>
        </p:nvSpPr>
        <p:spPr>
          <a:xfrm>
            <a:off x="758950" y="4177029"/>
            <a:ext cx="31455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Save a snapshot with a message</a:t>
            </a:r>
          </a:p>
        </p:txBody>
      </p:sp>
      <p:sp>
        <p:nvSpPr>
          <p:cNvPr id="296" name="Text 15"/>
          <p:cNvSpPr txBox="1"/>
          <p:nvPr/>
        </p:nvSpPr>
        <p:spPr>
          <a:xfrm>
            <a:off x="758950" y="4359655"/>
            <a:ext cx="314554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log / diff</a:t>
            </a:r>
          </a:p>
        </p:txBody>
      </p:sp>
      <p:sp>
        <p:nvSpPr>
          <p:cNvPr id="297" name="Text 16"/>
          <p:cNvSpPr txBox="1"/>
          <p:nvPr/>
        </p:nvSpPr>
        <p:spPr>
          <a:xfrm>
            <a:off x="758950" y="4565649"/>
            <a:ext cx="31455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View history / see line-by-line changes</a:t>
            </a:r>
          </a:p>
        </p:txBody>
      </p:sp>
      <p:sp>
        <p:nvSpPr>
          <p:cNvPr id="298" name="Shape 17"/>
          <p:cNvSpPr/>
          <p:nvPr/>
        </p:nvSpPr>
        <p:spPr>
          <a:xfrm>
            <a:off x="4343400" y="1828800"/>
            <a:ext cx="3657600" cy="3063240"/>
          </a:xfrm>
          <a:prstGeom prst="roundRect">
            <a:avLst>
              <a:gd name="adj" fmla="val 2687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9" name="Text 18"/>
          <p:cNvSpPr txBox="1"/>
          <p:nvPr/>
        </p:nvSpPr>
        <p:spPr>
          <a:xfrm>
            <a:off x="4599432" y="2058732"/>
            <a:ext cx="314553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Remote / GitHub</a:t>
            </a:r>
          </a:p>
        </p:txBody>
      </p:sp>
      <p:sp>
        <p:nvSpPr>
          <p:cNvPr id="300" name="Text 19"/>
          <p:cNvSpPr txBox="1"/>
          <p:nvPr/>
        </p:nvSpPr>
        <p:spPr>
          <a:xfrm>
            <a:off x="4599432" y="2416555"/>
            <a:ext cx="31455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clone &lt;url&gt;</a:t>
            </a:r>
          </a:p>
        </p:txBody>
      </p:sp>
      <p:sp>
        <p:nvSpPr>
          <p:cNvPr id="301" name="Text 20"/>
          <p:cNvSpPr txBox="1"/>
          <p:nvPr/>
        </p:nvSpPr>
        <p:spPr>
          <a:xfrm>
            <a:off x="4599432" y="2719703"/>
            <a:ext cx="31455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Copy a remote repo to your machine</a:t>
            </a:r>
          </a:p>
        </p:txBody>
      </p:sp>
      <p:sp>
        <p:nvSpPr>
          <p:cNvPr id="302" name="Text 21"/>
          <p:cNvSpPr txBox="1"/>
          <p:nvPr/>
        </p:nvSpPr>
        <p:spPr>
          <a:xfrm>
            <a:off x="4599432" y="2999484"/>
            <a:ext cx="31455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remote -v</a:t>
            </a:r>
          </a:p>
        </p:txBody>
      </p:sp>
      <p:sp>
        <p:nvSpPr>
          <p:cNvPr id="303" name="Text 22"/>
          <p:cNvSpPr txBox="1"/>
          <p:nvPr/>
        </p:nvSpPr>
        <p:spPr>
          <a:xfrm>
            <a:off x="4599432" y="3302634"/>
            <a:ext cx="31455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List connected remote repositories</a:t>
            </a:r>
          </a:p>
        </p:txBody>
      </p:sp>
      <p:sp>
        <p:nvSpPr>
          <p:cNvPr id="304" name="Text 23"/>
          <p:cNvSpPr txBox="1"/>
          <p:nvPr/>
        </p:nvSpPr>
        <p:spPr>
          <a:xfrm>
            <a:off x="4599432" y="3582415"/>
            <a:ext cx="31455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pull</a:t>
            </a:r>
          </a:p>
        </p:txBody>
      </p:sp>
      <p:sp>
        <p:nvSpPr>
          <p:cNvPr id="305" name="Text 24"/>
          <p:cNvSpPr txBox="1"/>
          <p:nvPr/>
        </p:nvSpPr>
        <p:spPr>
          <a:xfrm>
            <a:off x="4599432" y="3885565"/>
            <a:ext cx="31455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Fetch &amp; merge remote changes</a:t>
            </a:r>
          </a:p>
        </p:txBody>
      </p:sp>
      <p:sp>
        <p:nvSpPr>
          <p:cNvPr id="306" name="Text 25"/>
          <p:cNvSpPr txBox="1"/>
          <p:nvPr/>
        </p:nvSpPr>
        <p:spPr>
          <a:xfrm>
            <a:off x="4599432" y="4165346"/>
            <a:ext cx="31455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push</a:t>
            </a:r>
          </a:p>
        </p:txBody>
      </p:sp>
      <p:sp>
        <p:nvSpPr>
          <p:cNvPr id="307" name="Text 26"/>
          <p:cNvSpPr txBox="1"/>
          <p:nvPr/>
        </p:nvSpPr>
        <p:spPr>
          <a:xfrm>
            <a:off x="4599432" y="4468495"/>
            <a:ext cx="31455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Send local commits to the remote</a:t>
            </a:r>
          </a:p>
        </p:txBody>
      </p:sp>
      <p:sp>
        <p:nvSpPr>
          <p:cNvPr id="308" name="Shape 27"/>
          <p:cNvSpPr/>
          <p:nvPr/>
        </p:nvSpPr>
        <p:spPr>
          <a:xfrm>
            <a:off x="8304952" y="1751076"/>
            <a:ext cx="3474722" cy="3063241"/>
          </a:xfrm>
          <a:prstGeom prst="roundRect">
            <a:avLst>
              <a:gd name="adj" fmla="val 2687"/>
            </a:avLst>
          </a:prstGeom>
          <a:solidFill>
            <a:srgbClr val="DCEEF2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Text 28"/>
          <p:cNvSpPr txBox="1"/>
          <p:nvPr/>
        </p:nvSpPr>
        <p:spPr>
          <a:xfrm>
            <a:off x="8439911" y="2058732"/>
            <a:ext cx="296265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SSH Trust </a:t>
            </a:r>
          </a:p>
        </p:txBody>
      </p:sp>
      <p:sp>
        <p:nvSpPr>
          <p:cNvPr id="310" name="Text 29"/>
          <p:cNvSpPr txBox="1"/>
          <p:nvPr/>
        </p:nvSpPr>
        <p:spPr>
          <a:xfrm>
            <a:off x="8439911" y="2416555"/>
            <a:ext cx="296265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ssh-keygen</a:t>
            </a:r>
          </a:p>
        </p:txBody>
      </p:sp>
      <p:sp>
        <p:nvSpPr>
          <p:cNvPr id="311" name="Text 30"/>
          <p:cNvSpPr txBox="1"/>
          <p:nvPr/>
        </p:nvSpPr>
        <p:spPr>
          <a:xfrm>
            <a:off x="8439911" y="2816860"/>
            <a:ext cx="29626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Generate a public/private key pair</a:t>
            </a:r>
          </a:p>
        </p:txBody>
      </p:sp>
      <p:sp>
        <p:nvSpPr>
          <p:cNvPr id="312" name="Text 31"/>
          <p:cNvSpPr txBox="1"/>
          <p:nvPr/>
        </p:nvSpPr>
        <p:spPr>
          <a:xfrm>
            <a:off x="8439911" y="3193795"/>
            <a:ext cx="296265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Add key to GitHub</a:t>
            </a:r>
          </a:p>
        </p:txBody>
      </p:sp>
      <p:sp>
        <p:nvSpPr>
          <p:cNvPr id="313" name="Text 32"/>
          <p:cNvSpPr txBox="1"/>
          <p:nvPr/>
        </p:nvSpPr>
        <p:spPr>
          <a:xfrm>
            <a:off x="8439911" y="3594098"/>
            <a:ext cx="29626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Paste public key into account Settings</a:t>
            </a:r>
          </a:p>
        </p:txBody>
      </p:sp>
      <p:sp>
        <p:nvSpPr>
          <p:cNvPr id="314" name="Shape 35"/>
          <p:cNvSpPr/>
          <p:nvPr/>
        </p:nvSpPr>
        <p:spPr>
          <a:xfrm>
            <a:off x="502919" y="5074920"/>
            <a:ext cx="11155682" cy="1234442"/>
          </a:xfrm>
          <a:prstGeom prst="roundRect">
            <a:avLst>
              <a:gd name="adj" fmla="val 6667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Text 36"/>
          <p:cNvSpPr txBox="1"/>
          <p:nvPr/>
        </p:nvSpPr>
        <p:spPr>
          <a:xfrm>
            <a:off x="758950" y="5347401"/>
            <a:ext cx="106436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Tracked vs Untracked · Staged vs Unstaged</a:t>
            </a:r>
          </a:p>
        </p:txBody>
      </p:sp>
      <p:sp>
        <p:nvSpPr>
          <p:cNvPr id="316" name="Text 37"/>
          <p:cNvSpPr txBox="1"/>
          <p:nvPr/>
        </p:nvSpPr>
        <p:spPr>
          <a:xfrm>
            <a:off x="758950" y="5678423"/>
            <a:ext cx="10643620" cy="37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6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Untracked — a new file Git has never seen  |  Tracked — Git is watching it for changes</a:t>
            </a:r>
          </a:p>
          <a:p>
            <a:pPr marL="177800" indent="-177800">
              <a:spcBef>
                <a:spcPts val="6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Unstaged — modified but not yet added  |  Staged — added with git add, ready to commit</a:t>
            </a:r>
          </a:p>
        </p:txBody>
      </p:sp>
      <p:sp>
        <p:nvSpPr>
          <p:cNvPr id="317" name="Text 38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GIT &amp; GITHUB</a:t>
            </a:r>
          </a:p>
        </p:txBody>
      </p:sp>
      <p:sp>
        <p:nvSpPr>
          <p:cNvPr id="318" name="Text 39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0"/>
          <p:cNvSpPr/>
          <p:nvPr/>
        </p:nvSpPr>
        <p:spPr>
          <a:xfrm>
            <a:off x="8984063" y="3523149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 PROGRAMMING</a:t>
            </a:r>
          </a:p>
        </p:txBody>
      </p:sp>
      <p:sp>
        <p:nvSpPr>
          <p:cNvPr id="322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Variables &amp; Statements in C</a:t>
            </a:r>
          </a:p>
        </p:txBody>
      </p:sp>
      <p:sp>
        <p:nvSpPr>
          <p:cNvPr id="323" name="Shape 3"/>
          <p:cNvSpPr/>
          <p:nvPr/>
        </p:nvSpPr>
        <p:spPr>
          <a:xfrm>
            <a:off x="2670116" y="1659298"/>
            <a:ext cx="6272648" cy="4251961"/>
          </a:xfrm>
          <a:prstGeom prst="roundRect">
            <a:avLst>
              <a:gd name="adj" fmla="val 1935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4" name="Text 4"/>
          <p:cNvSpPr txBox="1"/>
          <p:nvPr/>
        </p:nvSpPr>
        <p:spPr>
          <a:xfrm>
            <a:off x="3074416" y="1976350"/>
            <a:ext cx="4882900" cy="291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Declaring Variables</a:t>
            </a:r>
          </a:p>
        </p:txBody>
      </p:sp>
      <p:sp>
        <p:nvSpPr>
          <p:cNvPr id="325" name="Text 5"/>
          <p:cNvSpPr txBox="1"/>
          <p:nvPr/>
        </p:nvSpPr>
        <p:spPr>
          <a:xfrm>
            <a:off x="3216722" y="2515827"/>
            <a:ext cx="5486402" cy="2804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73538" indent="-273538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sz="2000"/>
              <a:t>Syntax</a:t>
            </a:r>
            <a:r>
              <a:rPr sz="1900"/>
              <a:t>:  type variable_name;   e.g.  int count;</a:t>
            </a:r>
            <a:endParaRPr sz="1900"/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9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Common types: int, float, double, char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9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Initialize at declaration:  int total = 0;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9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Multiple variables:  int x, y, z;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9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Names must start with a letter or underscore, no spaces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9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 meaningful, descriptive names (see Algorithm Principles)</a:t>
            </a:r>
          </a:p>
        </p:txBody>
      </p:sp>
      <p:sp>
        <p:nvSpPr>
          <p:cNvPr id="326" name="Text 9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 VARIABLES &amp; STATEMENTS</a:t>
            </a:r>
          </a:p>
        </p:txBody>
      </p:sp>
      <p:sp>
        <p:nvSpPr>
          <p:cNvPr id="327" name="Text 10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WORKED EXAMPLE</a:t>
            </a:r>
          </a:p>
        </p:txBody>
      </p:sp>
      <p:sp>
        <p:nvSpPr>
          <p:cNvPr id="330" name="Text 1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Fibonacci Series — C Program</a:t>
            </a:r>
          </a:p>
        </p:txBody>
      </p:sp>
      <p:sp>
        <p:nvSpPr>
          <p:cNvPr id="331" name="Text 3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 PROGRAM — FIBONACCI SERIES</a:t>
            </a:r>
          </a:p>
        </p:txBody>
      </p:sp>
      <p:sp>
        <p:nvSpPr>
          <p:cNvPr id="332" name="Text 4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12</a:t>
            </a:r>
          </a:p>
        </p:txBody>
      </p:sp>
      <p:pic>
        <p:nvPicPr>
          <p:cNvPr id="333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48448" y="1414060"/>
            <a:ext cx="7081743" cy="50814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6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DEBUGGING BASICS</a:t>
            </a:r>
          </a:p>
        </p:txBody>
      </p:sp>
      <p:sp>
        <p:nvSpPr>
          <p:cNvPr id="337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Reading Error Messages in the Command Line</a:t>
            </a:r>
          </a:p>
        </p:txBody>
      </p:sp>
      <p:sp>
        <p:nvSpPr>
          <p:cNvPr id="338" name="Shape 3"/>
          <p:cNvSpPr/>
          <p:nvPr/>
        </p:nvSpPr>
        <p:spPr>
          <a:xfrm>
            <a:off x="502919" y="1828800"/>
            <a:ext cx="11155682" cy="1051562"/>
          </a:xfrm>
          <a:prstGeom prst="roundRect">
            <a:avLst>
              <a:gd name="adj" fmla="val 7826"/>
            </a:avLst>
          </a:prstGeom>
          <a:solidFill>
            <a:srgbClr val="0B3D62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9" name="Text 4"/>
          <p:cNvSpPr txBox="1"/>
          <p:nvPr/>
        </p:nvSpPr>
        <p:spPr>
          <a:xfrm>
            <a:off x="777238" y="2252978"/>
            <a:ext cx="1060704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8A8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fibonacci.c:12:5: error: use of undeclared identifier 'fibonacci_counter'</a:t>
            </a:r>
          </a:p>
        </p:txBody>
      </p:sp>
      <p:sp>
        <p:nvSpPr>
          <p:cNvPr id="340" name="Shape 5"/>
          <p:cNvSpPr/>
          <p:nvPr/>
        </p:nvSpPr>
        <p:spPr>
          <a:xfrm>
            <a:off x="685800" y="3337559"/>
            <a:ext cx="566928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8870" y="349063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Text 6"/>
          <p:cNvSpPr txBox="1"/>
          <p:nvPr/>
        </p:nvSpPr>
        <p:spPr>
          <a:xfrm>
            <a:off x="548638" y="4090854"/>
            <a:ext cx="273177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File : Line : Column</a:t>
            </a:r>
          </a:p>
        </p:txBody>
      </p:sp>
      <p:sp>
        <p:nvSpPr>
          <p:cNvPr id="343" name="Text 7"/>
          <p:cNvSpPr txBox="1"/>
          <p:nvPr/>
        </p:nvSpPr>
        <p:spPr>
          <a:xfrm>
            <a:off x="548638" y="4800644"/>
            <a:ext cx="273177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Pinpoints exactly where the problem was found</a:t>
            </a:r>
          </a:p>
        </p:txBody>
      </p:sp>
      <p:sp>
        <p:nvSpPr>
          <p:cNvPr id="344" name="Shape 8"/>
          <p:cNvSpPr/>
          <p:nvPr/>
        </p:nvSpPr>
        <p:spPr>
          <a:xfrm>
            <a:off x="3463290" y="3337559"/>
            <a:ext cx="566931" cy="566931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4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16361" y="349063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Text 9"/>
          <p:cNvSpPr txBox="1"/>
          <p:nvPr/>
        </p:nvSpPr>
        <p:spPr>
          <a:xfrm>
            <a:off x="3326129" y="4090854"/>
            <a:ext cx="273177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error vs warning</a:t>
            </a:r>
          </a:p>
        </p:txBody>
      </p:sp>
      <p:sp>
        <p:nvSpPr>
          <p:cNvPr id="347" name="Text 10"/>
          <p:cNvSpPr txBox="1"/>
          <p:nvPr/>
        </p:nvSpPr>
        <p:spPr>
          <a:xfrm>
            <a:off x="3326129" y="4714666"/>
            <a:ext cx="2731772" cy="309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Errors stop compilation; warnings don't (but should be fixed)</a:t>
            </a:r>
          </a:p>
        </p:txBody>
      </p:sp>
      <p:sp>
        <p:nvSpPr>
          <p:cNvPr id="348" name="Shape 11"/>
          <p:cNvSpPr/>
          <p:nvPr/>
        </p:nvSpPr>
        <p:spPr>
          <a:xfrm>
            <a:off x="6240779" y="3337559"/>
            <a:ext cx="566931" cy="566931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4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93850" y="349063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ext 12"/>
          <p:cNvSpPr txBox="1"/>
          <p:nvPr/>
        </p:nvSpPr>
        <p:spPr>
          <a:xfrm>
            <a:off x="6103620" y="4090854"/>
            <a:ext cx="273177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Read Top-to-Bottom</a:t>
            </a:r>
          </a:p>
        </p:txBody>
      </p:sp>
      <p:sp>
        <p:nvSpPr>
          <p:cNvPr id="351" name="Text 13"/>
          <p:cNvSpPr txBox="1"/>
          <p:nvPr/>
        </p:nvSpPr>
        <p:spPr>
          <a:xfrm>
            <a:off x="6103620" y="4800644"/>
            <a:ext cx="273177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Fix the first error first — later ones may just cascade</a:t>
            </a:r>
          </a:p>
        </p:txBody>
      </p:sp>
      <p:sp>
        <p:nvSpPr>
          <p:cNvPr id="352" name="Shape 14"/>
          <p:cNvSpPr/>
          <p:nvPr/>
        </p:nvSpPr>
        <p:spPr>
          <a:xfrm>
            <a:off x="9018268" y="3337559"/>
            <a:ext cx="566931" cy="566931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5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171340" y="3490631"/>
            <a:ext cx="260789" cy="260789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Text 15"/>
          <p:cNvSpPr txBox="1"/>
          <p:nvPr/>
        </p:nvSpPr>
        <p:spPr>
          <a:xfrm>
            <a:off x="8881109" y="4090854"/>
            <a:ext cx="273177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Runtime Errors</a:t>
            </a:r>
          </a:p>
        </p:txBody>
      </p:sp>
      <p:sp>
        <p:nvSpPr>
          <p:cNvPr id="355" name="Text 16"/>
          <p:cNvSpPr txBox="1"/>
          <p:nvPr/>
        </p:nvSpPr>
        <p:spPr>
          <a:xfrm>
            <a:off x="8881109" y="4714666"/>
            <a:ext cx="2731772" cy="309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e.g. 'Segmentation fault' — a crash while the program runs</a:t>
            </a:r>
          </a:p>
        </p:txBody>
      </p:sp>
      <p:sp>
        <p:nvSpPr>
          <p:cNvPr id="356" name="Shape 17"/>
          <p:cNvSpPr/>
          <p:nvPr/>
        </p:nvSpPr>
        <p:spPr>
          <a:xfrm>
            <a:off x="502919" y="5257800"/>
            <a:ext cx="11155682" cy="1051562"/>
          </a:xfrm>
          <a:prstGeom prst="roundRect">
            <a:avLst>
              <a:gd name="adj" fmla="val 782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7" name="Text 18"/>
          <p:cNvSpPr txBox="1"/>
          <p:nvPr/>
        </p:nvSpPr>
        <p:spPr>
          <a:xfrm>
            <a:off x="758950" y="5530281"/>
            <a:ext cx="106436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Quick Tips</a:t>
            </a:r>
          </a:p>
        </p:txBody>
      </p:sp>
      <p:sp>
        <p:nvSpPr>
          <p:cNvPr id="358" name="Text 19"/>
          <p:cNvSpPr txBox="1"/>
          <p:nvPr/>
        </p:nvSpPr>
        <p:spPr>
          <a:xfrm>
            <a:off x="758950" y="5861303"/>
            <a:ext cx="1064362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77800" indent="-177800">
              <a:spcBef>
                <a:spcPts val="8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Compile often — a small change is easier to debug than a hundred lines at once  ·  Copy the exact error text into a search engine when stuck  ·  Check for missing semicolons, brackets &amp; declared variables first</a:t>
            </a:r>
          </a:p>
        </p:txBody>
      </p:sp>
      <p:sp>
        <p:nvSpPr>
          <p:cNvPr id="359" name="Text 20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COMMAND LINE ERRORS</a:t>
            </a:r>
          </a:p>
        </p:txBody>
      </p:sp>
      <p:sp>
        <p:nvSpPr>
          <p:cNvPr id="360" name="Text 21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Screenshot 2026-07-04 at 11.06.37 AM.png" descr="Screenshot 2026-07-04 at 11.06.37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1204" y="-800469"/>
            <a:ext cx="13043115" cy="81519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5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SYSTEM INTERNALS · PART 1 OF 2</a:t>
            </a:r>
          </a:p>
        </p:txBody>
      </p:sp>
      <p:sp>
        <p:nvSpPr>
          <p:cNvPr id="366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Inside the Computer: CPU &amp; Memory</a:t>
            </a:r>
          </a:p>
        </p:txBody>
      </p:sp>
      <p:sp>
        <p:nvSpPr>
          <p:cNvPr id="367" name="Shape 3"/>
          <p:cNvSpPr/>
          <p:nvPr/>
        </p:nvSpPr>
        <p:spPr>
          <a:xfrm>
            <a:off x="502919" y="1828800"/>
            <a:ext cx="5394962" cy="4251960"/>
          </a:xfrm>
          <a:prstGeom prst="roundRect">
            <a:avLst>
              <a:gd name="adj" fmla="val 1935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8" name="Text 4"/>
          <p:cNvSpPr txBox="1"/>
          <p:nvPr/>
        </p:nvSpPr>
        <p:spPr>
          <a:xfrm>
            <a:off x="758950" y="2101282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CPU</a:t>
            </a:r>
          </a:p>
        </p:txBody>
      </p:sp>
      <p:sp>
        <p:nvSpPr>
          <p:cNvPr id="369" name="Text 5"/>
          <p:cNvSpPr txBox="1"/>
          <p:nvPr/>
        </p:nvSpPr>
        <p:spPr>
          <a:xfrm>
            <a:off x="758950" y="2432304"/>
            <a:ext cx="4882900" cy="77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Control Unit (CU) — fetches instructions &amp; directs data flow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ALU — performs arithmetic (+, -) and logic (comparisons)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Clock speed (GHz) — how many cycles the CPU runs per second</a:t>
            </a:r>
          </a:p>
        </p:txBody>
      </p:sp>
      <p:sp>
        <p:nvSpPr>
          <p:cNvPr id="370" name="Shape 6"/>
          <p:cNvSpPr/>
          <p:nvPr/>
        </p:nvSpPr>
        <p:spPr>
          <a:xfrm>
            <a:off x="6172200" y="1828800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1" name="Text 7"/>
          <p:cNvSpPr txBox="1"/>
          <p:nvPr/>
        </p:nvSpPr>
        <p:spPr>
          <a:xfrm>
            <a:off x="6428232" y="2101282"/>
            <a:ext cx="4974336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Memory Hierarchy</a:t>
            </a:r>
          </a:p>
        </p:txBody>
      </p:sp>
      <p:sp>
        <p:nvSpPr>
          <p:cNvPr id="372" name="Text 8"/>
          <p:cNvSpPr txBox="1"/>
          <p:nvPr/>
        </p:nvSpPr>
        <p:spPr>
          <a:xfrm>
            <a:off x="6428232" y="2432304"/>
            <a:ext cx="4974336" cy="849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4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Cache (L1/L2/L3) — very fast memory close to the CPU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4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RAM — main memory; fast but volatile (cleared on power-off)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4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Disk / SSD — large, permanent storage; much slower than RAM</a:t>
            </a:r>
          </a:p>
        </p:txBody>
      </p:sp>
      <p:sp>
        <p:nvSpPr>
          <p:cNvPr id="373" name="Text 9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SYSTEM INTERNALS I</a:t>
            </a:r>
          </a:p>
        </p:txBody>
      </p:sp>
      <p:sp>
        <p:nvSpPr>
          <p:cNvPr id="374" name="Text 10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7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SYSTEM INTERNALS · PART 2 OF 2</a:t>
            </a:r>
          </a:p>
        </p:txBody>
      </p:sp>
      <p:sp>
        <p:nvSpPr>
          <p:cNvPr id="378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Inside the Computer: OS, Processes &amp; I/O</a:t>
            </a:r>
          </a:p>
        </p:txBody>
      </p:sp>
      <p:sp>
        <p:nvSpPr>
          <p:cNvPr id="379" name="Shape 3"/>
          <p:cNvSpPr/>
          <p:nvPr/>
        </p:nvSpPr>
        <p:spPr>
          <a:xfrm>
            <a:off x="502919" y="1783078"/>
            <a:ext cx="2500885" cy="1234442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Shape 4"/>
          <p:cNvSpPr/>
          <p:nvPr/>
        </p:nvSpPr>
        <p:spPr>
          <a:xfrm>
            <a:off x="1533905" y="156362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8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52410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382" name="Text 5"/>
          <p:cNvSpPr txBox="1"/>
          <p:nvPr/>
        </p:nvSpPr>
        <p:spPr>
          <a:xfrm>
            <a:off x="594359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3" name="Text 6"/>
          <p:cNvSpPr txBox="1"/>
          <p:nvPr/>
        </p:nvSpPr>
        <p:spPr>
          <a:xfrm>
            <a:off x="612648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Fetch</a:t>
            </a:r>
          </a:p>
        </p:txBody>
      </p:sp>
      <p:sp>
        <p:nvSpPr>
          <p:cNvPr id="384" name="Text 7"/>
          <p:cNvSpPr txBox="1"/>
          <p:nvPr/>
        </p:nvSpPr>
        <p:spPr>
          <a:xfrm>
            <a:off x="612648" y="2638551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CPU fetches the next instruction from memory</a:t>
            </a:r>
          </a:p>
        </p:txBody>
      </p:sp>
      <p:sp>
        <p:nvSpPr>
          <p:cNvPr id="385" name="Shape 8"/>
          <p:cNvSpPr/>
          <p:nvPr/>
        </p:nvSpPr>
        <p:spPr>
          <a:xfrm>
            <a:off x="3049890" y="231800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Shape 9"/>
          <p:cNvSpPr/>
          <p:nvPr/>
        </p:nvSpPr>
        <p:spPr>
          <a:xfrm>
            <a:off x="3387852" y="1783078"/>
            <a:ext cx="2500886" cy="1234442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7" name="Shape 10"/>
          <p:cNvSpPr/>
          <p:nvPr/>
        </p:nvSpPr>
        <p:spPr>
          <a:xfrm>
            <a:off x="4418838" y="1563624"/>
            <a:ext cx="438913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8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37342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Text 11"/>
          <p:cNvSpPr txBox="1"/>
          <p:nvPr/>
        </p:nvSpPr>
        <p:spPr>
          <a:xfrm>
            <a:off x="3479291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0" name="Text 12"/>
          <p:cNvSpPr txBox="1"/>
          <p:nvPr/>
        </p:nvSpPr>
        <p:spPr>
          <a:xfrm>
            <a:off x="3497579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Decode</a:t>
            </a:r>
          </a:p>
        </p:txBody>
      </p:sp>
      <p:sp>
        <p:nvSpPr>
          <p:cNvPr id="391" name="Text 13"/>
          <p:cNvSpPr txBox="1"/>
          <p:nvPr/>
        </p:nvSpPr>
        <p:spPr>
          <a:xfrm>
            <a:off x="3497579" y="2638551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Control unit decodes what the instruction means</a:t>
            </a:r>
          </a:p>
        </p:txBody>
      </p:sp>
      <p:sp>
        <p:nvSpPr>
          <p:cNvPr id="392" name="Shape 14"/>
          <p:cNvSpPr/>
          <p:nvPr/>
        </p:nvSpPr>
        <p:spPr>
          <a:xfrm>
            <a:off x="5934821" y="231800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Shape 15"/>
          <p:cNvSpPr/>
          <p:nvPr/>
        </p:nvSpPr>
        <p:spPr>
          <a:xfrm>
            <a:off x="6272784" y="1783078"/>
            <a:ext cx="2500886" cy="1234442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Shape 16"/>
          <p:cNvSpPr/>
          <p:nvPr/>
        </p:nvSpPr>
        <p:spPr>
          <a:xfrm>
            <a:off x="7303768" y="156362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9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22274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Text 17"/>
          <p:cNvSpPr txBox="1"/>
          <p:nvPr/>
        </p:nvSpPr>
        <p:spPr>
          <a:xfrm>
            <a:off x="6364223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7" name="Text 18"/>
          <p:cNvSpPr txBox="1"/>
          <p:nvPr/>
        </p:nvSpPr>
        <p:spPr>
          <a:xfrm>
            <a:off x="6382510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Execute</a:t>
            </a:r>
          </a:p>
        </p:txBody>
      </p:sp>
      <p:sp>
        <p:nvSpPr>
          <p:cNvPr id="398" name="Text 19"/>
          <p:cNvSpPr txBox="1"/>
          <p:nvPr/>
        </p:nvSpPr>
        <p:spPr>
          <a:xfrm>
            <a:off x="6382510" y="2638551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ALU/CU carry out the instruction</a:t>
            </a:r>
          </a:p>
        </p:txBody>
      </p:sp>
      <p:sp>
        <p:nvSpPr>
          <p:cNvPr id="399" name="Shape 20"/>
          <p:cNvSpPr/>
          <p:nvPr/>
        </p:nvSpPr>
        <p:spPr>
          <a:xfrm>
            <a:off x="8819753" y="231800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0" name="Shape 21"/>
          <p:cNvSpPr/>
          <p:nvPr/>
        </p:nvSpPr>
        <p:spPr>
          <a:xfrm>
            <a:off x="9157716" y="1783078"/>
            <a:ext cx="2500886" cy="1234442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1" name="Shape 22"/>
          <p:cNvSpPr/>
          <p:nvPr/>
        </p:nvSpPr>
        <p:spPr>
          <a:xfrm>
            <a:off x="10188702" y="156362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0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07208" y="168213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Text 23"/>
          <p:cNvSpPr txBox="1"/>
          <p:nvPr/>
        </p:nvSpPr>
        <p:spPr>
          <a:xfrm>
            <a:off x="9249156" y="192625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04" name="Text 24"/>
          <p:cNvSpPr txBox="1"/>
          <p:nvPr/>
        </p:nvSpPr>
        <p:spPr>
          <a:xfrm>
            <a:off x="9267442" y="2230427"/>
            <a:ext cx="228143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Store</a:t>
            </a:r>
          </a:p>
        </p:txBody>
      </p:sp>
      <p:sp>
        <p:nvSpPr>
          <p:cNvPr id="405" name="Text 25"/>
          <p:cNvSpPr txBox="1"/>
          <p:nvPr/>
        </p:nvSpPr>
        <p:spPr>
          <a:xfrm>
            <a:off x="9267442" y="2638551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Result is written back to a register or memory</a:t>
            </a:r>
          </a:p>
        </p:txBody>
      </p:sp>
      <p:sp>
        <p:nvSpPr>
          <p:cNvPr id="406" name="Shape 26"/>
          <p:cNvSpPr/>
          <p:nvPr/>
        </p:nvSpPr>
        <p:spPr>
          <a:xfrm>
            <a:off x="502919" y="3479800"/>
            <a:ext cx="5394962" cy="2743200"/>
          </a:xfrm>
          <a:prstGeom prst="roundRect">
            <a:avLst>
              <a:gd name="adj" fmla="val 3000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7" name="Text 27"/>
          <p:cNvSpPr txBox="1"/>
          <p:nvPr/>
        </p:nvSpPr>
        <p:spPr>
          <a:xfrm>
            <a:off x="758950" y="3701481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Operating System's Job</a:t>
            </a:r>
          </a:p>
        </p:txBody>
      </p:sp>
      <p:sp>
        <p:nvSpPr>
          <p:cNvPr id="408" name="Text 28"/>
          <p:cNvSpPr txBox="1"/>
          <p:nvPr/>
        </p:nvSpPr>
        <p:spPr>
          <a:xfrm>
            <a:off x="758950" y="4032503"/>
            <a:ext cx="4882900" cy="741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Manages hardware resources (CPU, memory, devices)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 process is a running instance of a program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Processes move through states: ready → running → waiting</a:t>
            </a:r>
          </a:p>
        </p:txBody>
      </p:sp>
      <p:sp>
        <p:nvSpPr>
          <p:cNvPr id="409" name="Shape 29"/>
          <p:cNvSpPr/>
          <p:nvPr/>
        </p:nvSpPr>
        <p:spPr>
          <a:xfrm>
            <a:off x="6172200" y="342900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Text 30"/>
          <p:cNvSpPr txBox="1"/>
          <p:nvPr/>
        </p:nvSpPr>
        <p:spPr>
          <a:xfrm>
            <a:off x="6428232" y="3701481"/>
            <a:ext cx="4974336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Input / Output</a:t>
            </a:r>
          </a:p>
        </p:txBody>
      </p:sp>
      <p:sp>
        <p:nvSpPr>
          <p:cNvPr id="411" name="Text 31"/>
          <p:cNvSpPr txBox="1"/>
          <p:nvPr/>
        </p:nvSpPr>
        <p:spPr>
          <a:xfrm>
            <a:off x="6428232" y="4032503"/>
            <a:ext cx="4974336" cy="103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System calls let programs ask the OS for services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Files, keyboard &amp; network are accessed through the OS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file system organizes data on permanent storage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I/O is far slower than CPU/RAM — often the real bottleneck</a:t>
            </a:r>
          </a:p>
        </p:txBody>
      </p:sp>
      <p:sp>
        <p:nvSpPr>
          <p:cNvPr id="412" name="Text 32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SYSTEM INTERNALS II</a:t>
            </a:r>
          </a:p>
        </p:txBody>
      </p:sp>
      <p:sp>
        <p:nvSpPr>
          <p:cNvPr id="413" name="Text 33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FROM SOURCE TO EXECUTABLE</a:t>
            </a:r>
          </a:p>
        </p:txBody>
      </p:sp>
      <p:sp>
        <p:nvSpPr>
          <p:cNvPr id="417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Compilation Process — Overview</a:t>
            </a:r>
          </a:p>
        </p:txBody>
      </p:sp>
      <p:sp>
        <p:nvSpPr>
          <p:cNvPr id="418" name="Shape 3"/>
          <p:cNvSpPr/>
          <p:nvPr/>
        </p:nvSpPr>
        <p:spPr>
          <a:xfrm>
            <a:off x="502919" y="2148838"/>
            <a:ext cx="1923901" cy="1417323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Shape 4"/>
          <p:cNvSpPr/>
          <p:nvPr/>
        </p:nvSpPr>
        <p:spPr>
          <a:xfrm>
            <a:off x="1245413" y="1929383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3918" y="2047888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ext 5"/>
          <p:cNvSpPr txBox="1"/>
          <p:nvPr/>
        </p:nvSpPr>
        <p:spPr>
          <a:xfrm>
            <a:off x="594359" y="229201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22" name="Text 6"/>
          <p:cNvSpPr txBox="1"/>
          <p:nvPr/>
        </p:nvSpPr>
        <p:spPr>
          <a:xfrm>
            <a:off x="612646" y="2596187"/>
            <a:ext cx="1704446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Source Code</a:t>
            </a:r>
          </a:p>
        </p:txBody>
      </p:sp>
      <p:sp>
        <p:nvSpPr>
          <p:cNvPr id="423" name="Text 7"/>
          <p:cNvSpPr txBox="1"/>
          <p:nvPr/>
        </p:nvSpPr>
        <p:spPr>
          <a:xfrm>
            <a:off x="612646" y="3095750"/>
            <a:ext cx="17044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.c file — human-readable C code</a:t>
            </a:r>
          </a:p>
        </p:txBody>
      </p:sp>
      <p:sp>
        <p:nvSpPr>
          <p:cNvPr id="424" name="Shape 8"/>
          <p:cNvSpPr/>
          <p:nvPr/>
        </p:nvSpPr>
        <p:spPr>
          <a:xfrm>
            <a:off x="2472901" y="277520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Shape 9"/>
          <p:cNvSpPr/>
          <p:nvPr/>
        </p:nvSpPr>
        <p:spPr>
          <a:xfrm>
            <a:off x="2810866" y="2148838"/>
            <a:ext cx="1923900" cy="1417323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Shape 10"/>
          <p:cNvSpPr/>
          <p:nvPr/>
        </p:nvSpPr>
        <p:spPr>
          <a:xfrm>
            <a:off x="3553357" y="1929383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2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71865" y="2047888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428" name="Text 11"/>
          <p:cNvSpPr txBox="1"/>
          <p:nvPr/>
        </p:nvSpPr>
        <p:spPr>
          <a:xfrm>
            <a:off x="2902305" y="229201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29" name="Text 12"/>
          <p:cNvSpPr txBox="1"/>
          <p:nvPr/>
        </p:nvSpPr>
        <p:spPr>
          <a:xfrm>
            <a:off x="2920593" y="2596187"/>
            <a:ext cx="1704445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Preprocessing</a:t>
            </a:r>
          </a:p>
        </p:txBody>
      </p:sp>
      <p:sp>
        <p:nvSpPr>
          <p:cNvPr id="430" name="Text 13"/>
          <p:cNvSpPr txBox="1"/>
          <p:nvPr/>
        </p:nvSpPr>
        <p:spPr>
          <a:xfrm>
            <a:off x="2920593" y="3032164"/>
            <a:ext cx="1704445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.i file — macros &amp; #includes expanded</a:t>
            </a:r>
          </a:p>
        </p:txBody>
      </p:sp>
      <p:sp>
        <p:nvSpPr>
          <p:cNvPr id="431" name="Shape 14"/>
          <p:cNvSpPr/>
          <p:nvPr/>
        </p:nvSpPr>
        <p:spPr>
          <a:xfrm>
            <a:off x="4780848" y="277520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Shape 15"/>
          <p:cNvSpPr/>
          <p:nvPr/>
        </p:nvSpPr>
        <p:spPr>
          <a:xfrm>
            <a:off x="5118810" y="2148838"/>
            <a:ext cx="1923900" cy="1417323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Shape 16"/>
          <p:cNvSpPr/>
          <p:nvPr/>
        </p:nvSpPr>
        <p:spPr>
          <a:xfrm>
            <a:off x="5861303" y="1929383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3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79810" y="2047888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ext 17"/>
          <p:cNvSpPr txBox="1"/>
          <p:nvPr/>
        </p:nvSpPr>
        <p:spPr>
          <a:xfrm>
            <a:off x="5210250" y="229201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36" name="Text 18"/>
          <p:cNvSpPr txBox="1"/>
          <p:nvPr/>
        </p:nvSpPr>
        <p:spPr>
          <a:xfrm>
            <a:off x="5228537" y="2596187"/>
            <a:ext cx="1704445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Compilation</a:t>
            </a:r>
          </a:p>
        </p:txBody>
      </p:sp>
      <p:sp>
        <p:nvSpPr>
          <p:cNvPr id="437" name="Text 19"/>
          <p:cNvSpPr txBox="1"/>
          <p:nvPr/>
        </p:nvSpPr>
        <p:spPr>
          <a:xfrm>
            <a:off x="5228537" y="3095750"/>
            <a:ext cx="17044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.s file — translated to assembly code</a:t>
            </a:r>
          </a:p>
        </p:txBody>
      </p:sp>
      <p:sp>
        <p:nvSpPr>
          <p:cNvPr id="438" name="Shape 20"/>
          <p:cNvSpPr/>
          <p:nvPr/>
        </p:nvSpPr>
        <p:spPr>
          <a:xfrm>
            <a:off x="7088795" y="277520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9" name="Shape 21"/>
          <p:cNvSpPr/>
          <p:nvPr/>
        </p:nvSpPr>
        <p:spPr>
          <a:xfrm>
            <a:off x="7426755" y="2148838"/>
            <a:ext cx="1923901" cy="1417323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Shape 22"/>
          <p:cNvSpPr/>
          <p:nvPr/>
        </p:nvSpPr>
        <p:spPr>
          <a:xfrm>
            <a:off x="8169250" y="1929383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41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287756" y="2047888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Text 23"/>
          <p:cNvSpPr txBox="1"/>
          <p:nvPr/>
        </p:nvSpPr>
        <p:spPr>
          <a:xfrm>
            <a:off x="7518196" y="229201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43" name="Text 24"/>
          <p:cNvSpPr txBox="1"/>
          <p:nvPr/>
        </p:nvSpPr>
        <p:spPr>
          <a:xfrm>
            <a:off x="7536484" y="2596187"/>
            <a:ext cx="1704445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Assembly</a:t>
            </a:r>
          </a:p>
        </p:txBody>
      </p:sp>
      <p:sp>
        <p:nvSpPr>
          <p:cNvPr id="444" name="Text 25"/>
          <p:cNvSpPr txBox="1"/>
          <p:nvPr/>
        </p:nvSpPr>
        <p:spPr>
          <a:xfrm>
            <a:off x="7536484" y="3032164"/>
            <a:ext cx="1704445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.o file — assembler turns it into machine code</a:t>
            </a:r>
          </a:p>
        </p:txBody>
      </p:sp>
      <p:sp>
        <p:nvSpPr>
          <p:cNvPr id="445" name="Shape 26"/>
          <p:cNvSpPr/>
          <p:nvPr/>
        </p:nvSpPr>
        <p:spPr>
          <a:xfrm>
            <a:off x="9396740" y="277520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Shape 27"/>
          <p:cNvSpPr/>
          <p:nvPr/>
        </p:nvSpPr>
        <p:spPr>
          <a:xfrm>
            <a:off x="9734701" y="2148838"/>
            <a:ext cx="1923900" cy="1417323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Shape 28"/>
          <p:cNvSpPr/>
          <p:nvPr/>
        </p:nvSpPr>
        <p:spPr>
          <a:xfrm>
            <a:off x="10477195" y="1929383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48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595701" y="2047888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ext 29"/>
          <p:cNvSpPr txBox="1"/>
          <p:nvPr/>
        </p:nvSpPr>
        <p:spPr>
          <a:xfrm>
            <a:off x="9826142" y="2292018"/>
            <a:ext cx="4572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50" name="Text 30"/>
          <p:cNvSpPr txBox="1"/>
          <p:nvPr/>
        </p:nvSpPr>
        <p:spPr>
          <a:xfrm>
            <a:off x="9844430" y="2596187"/>
            <a:ext cx="170444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Linking</a:t>
            </a:r>
          </a:p>
        </p:txBody>
      </p:sp>
      <p:sp>
        <p:nvSpPr>
          <p:cNvPr id="451" name="Text 31"/>
          <p:cNvSpPr txBox="1"/>
          <p:nvPr/>
        </p:nvSpPr>
        <p:spPr>
          <a:xfrm>
            <a:off x="9844430" y="3032164"/>
            <a:ext cx="1704444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executable — libraries linked into one binary</a:t>
            </a:r>
          </a:p>
        </p:txBody>
      </p:sp>
      <p:sp>
        <p:nvSpPr>
          <p:cNvPr id="452" name="Shape 32"/>
          <p:cNvSpPr/>
          <p:nvPr/>
        </p:nvSpPr>
        <p:spPr>
          <a:xfrm>
            <a:off x="502919" y="3977640"/>
            <a:ext cx="11155682" cy="2148842"/>
          </a:xfrm>
          <a:prstGeom prst="roundRect">
            <a:avLst>
              <a:gd name="adj" fmla="val 3830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3" name="Text 33"/>
          <p:cNvSpPr txBox="1"/>
          <p:nvPr/>
        </p:nvSpPr>
        <p:spPr>
          <a:xfrm>
            <a:off x="758950" y="4250120"/>
            <a:ext cx="106436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Related Formats &amp; Tools</a:t>
            </a:r>
          </a:p>
        </p:txBody>
      </p:sp>
      <p:sp>
        <p:nvSpPr>
          <p:cNvPr id="454" name="Text 34"/>
          <p:cNvSpPr txBox="1"/>
          <p:nvPr/>
        </p:nvSpPr>
        <p:spPr>
          <a:xfrm>
            <a:off x="758950" y="4581144"/>
            <a:ext cx="10643620" cy="791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10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.bc / .ll — LLVM bitcode &amp; intermediate representation (IR), produced by Clang between source and assembly</a:t>
            </a:r>
          </a:p>
          <a:p>
            <a:pPr marL="177800" indent="-177800">
              <a:spcBef>
                <a:spcPts val="10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Assembler  — converts assembly code (.s) into machine code (.o)</a:t>
            </a:r>
          </a:p>
          <a:p>
            <a:pPr marL="177800" indent="-177800">
              <a:spcBef>
                <a:spcPts val="10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Disassembler — reverses the process: reads machine code and shows the assembly instructions</a:t>
            </a:r>
          </a:p>
        </p:txBody>
      </p:sp>
      <p:sp>
        <p:nvSpPr>
          <p:cNvPr id="455" name="Text 35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COMPILATION — OVERVIEW</a:t>
            </a:r>
          </a:p>
        </p:txBody>
      </p:sp>
      <p:sp>
        <p:nvSpPr>
          <p:cNvPr id="456" name="Text 36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9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LINUX FILE SYSTEM</a:t>
            </a:r>
          </a:p>
        </p:txBody>
      </p:sp>
      <p:sp>
        <p:nvSpPr>
          <p:cNvPr id="460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Absolute vs. Relative Paths</a:t>
            </a:r>
          </a:p>
        </p:txBody>
      </p:sp>
      <p:sp>
        <p:nvSpPr>
          <p:cNvPr id="461" name="Shape 3"/>
          <p:cNvSpPr/>
          <p:nvPr/>
        </p:nvSpPr>
        <p:spPr>
          <a:xfrm>
            <a:off x="502919" y="1874520"/>
            <a:ext cx="5394962" cy="4160521"/>
          </a:xfrm>
          <a:prstGeom prst="roundRect">
            <a:avLst>
              <a:gd name="adj" fmla="val 1978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2" name="Shape 4"/>
          <p:cNvSpPr/>
          <p:nvPr/>
        </p:nvSpPr>
        <p:spPr>
          <a:xfrm>
            <a:off x="777240" y="2103120"/>
            <a:ext cx="502923" cy="502923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3027" y="2238906"/>
            <a:ext cx="231345" cy="231345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ext 5"/>
          <p:cNvSpPr txBox="1"/>
          <p:nvPr/>
        </p:nvSpPr>
        <p:spPr>
          <a:xfrm>
            <a:off x="1417318" y="2227142"/>
            <a:ext cx="4206244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Absolute Path</a:t>
            </a:r>
          </a:p>
        </p:txBody>
      </p:sp>
      <p:sp>
        <p:nvSpPr>
          <p:cNvPr id="465" name="Text 6"/>
          <p:cNvSpPr txBox="1"/>
          <p:nvPr/>
        </p:nvSpPr>
        <p:spPr>
          <a:xfrm>
            <a:off x="777238" y="2858853"/>
            <a:ext cx="4846323" cy="36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Always starts from the root directory ( / ). It works no matter where you currently are.</a:t>
            </a:r>
          </a:p>
        </p:txBody>
      </p:sp>
      <p:sp>
        <p:nvSpPr>
          <p:cNvPr id="466" name="Shape 7"/>
          <p:cNvSpPr/>
          <p:nvPr/>
        </p:nvSpPr>
        <p:spPr>
          <a:xfrm>
            <a:off x="777240" y="3474720"/>
            <a:ext cx="4846321" cy="502922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7" name="Text 8"/>
          <p:cNvSpPr txBox="1"/>
          <p:nvPr/>
        </p:nvSpPr>
        <p:spPr>
          <a:xfrm>
            <a:off x="777238" y="3637279"/>
            <a:ext cx="484632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EAF3F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/home/user/project/index.html</a:t>
            </a:r>
          </a:p>
        </p:txBody>
      </p:sp>
      <p:sp>
        <p:nvSpPr>
          <p:cNvPr id="468" name="Text 9"/>
          <p:cNvSpPr txBox="1"/>
          <p:nvPr/>
        </p:nvSpPr>
        <p:spPr>
          <a:xfrm>
            <a:off x="777238" y="4267198"/>
            <a:ext cx="484632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12708C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cd /home/user/project</a:t>
            </a:r>
          </a:p>
        </p:txBody>
      </p:sp>
      <p:sp>
        <p:nvSpPr>
          <p:cNvPr id="469" name="Text 10"/>
          <p:cNvSpPr txBox="1"/>
          <p:nvPr/>
        </p:nvSpPr>
        <p:spPr>
          <a:xfrm>
            <a:off x="777238" y="5101402"/>
            <a:ext cx="4846323" cy="312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i="1" sz="11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Best for: scripts &amp; links that must always resolve correctly, regardless of the current directory.</a:t>
            </a:r>
          </a:p>
        </p:txBody>
      </p:sp>
      <p:sp>
        <p:nvSpPr>
          <p:cNvPr id="470" name="Shape 11"/>
          <p:cNvSpPr/>
          <p:nvPr/>
        </p:nvSpPr>
        <p:spPr>
          <a:xfrm>
            <a:off x="6172200" y="1874520"/>
            <a:ext cx="5486400" cy="4160521"/>
          </a:xfrm>
          <a:prstGeom prst="roundRect">
            <a:avLst>
              <a:gd name="adj" fmla="val 1978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1" name="Shape 12"/>
          <p:cNvSpPr/>
          <p:nvPr/>
        </p:nvSpPr>
        <p:spPr>
          <a:xfrm>
            <a:off x="6446520" y="2103120"/>
            <a:ext cx="502923" cy="502923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7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82308" y="2238906"/>
            <a:ext cx="231345" cy="231345"/>
          </a:xfrm>
          <a:prstGeom prst="rect">
            <a:avLst/>
          </a:prstGeom>
          <a:ln w="12700">
            <a:miter lim="400000"/>
          </a:ln>
        </p:spPr>
      </p:pic>
      <p:sp>
        <p:nvSpPr>
          <p:cNvPr id="473" name="Text 13"/>
          <p:cNvSpPr txBox="1"/>
          <p:nvPr/>
        </p:nvSpPr>
        <p:spPr>
          <a:xfrm>
            <a:off x="7086600" y="2227142"/>
            <a:ext cx="420624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Relative Path</a:t>
            </a:r>
          </a:p>
        </p:txBody>
      </p:sp>
      <p:sp>
        <p:nvSpPr>
          <p:cNvPr id="474" name="Text 14"/>
          <p:cNvSpPr txBox="1"/>
          <p:nvPr/>
        </p:nvSpPr>
        <p:spPr>
          <a:xfrm>
            <a:off x="6446520" y="2858853"/>
            <a:ext cx="4937762" cy="36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Starts from your current working directory. Shorter, but depends on where you are.</a:t>
            </a:r>
          </a:p>
        </p:txBody>
      </p:sp>
      <p:sp>
        <p:nvSpPr>
          <p:cNvPr id="475" name="Shape 15"/>
          <p:cNvSpPr/>
          <p:nvPr/>
        </p:nvSpPr>
        <p:spPr>
          <a:xfrm>
            <a:off x="6446520" y="3474720"/>
            <a:ext cx="4937760" cy="502922"/>
          </a:xfrm>
          <a:prstGeom prst="roundRect">
            <a:avLst>
              <a:gd name="adj" fmla="val 10909"/>
            </a:avLst>
          </a:prstGeom>
          <a:solidFill>
            <a:srgbClr val="0B3D6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6" name="Text 16"/>
          <p:cNvSpPr txBox="1"/>
          <p:nvPr/>
        </p:nvSpPr>
        <p:spPr>
          <a:xfrm>
            <a:off x="6446520" y="3637279"/>
            <a:ext cx="49377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DF1D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../images/logo.png</a:t>
            </a:r>
          </a:p>
        </p:txBody>
      </p:sp>
      <p:sp>
        <p:nvSpPr>
          <p:cNvPr id="477" name="Text 17"/>
          <p:cNvSpPr txBox="1"/>
          <p:nvPr/>
        </p:nvSpPr>
        <p:spPr>
          <a:xfrm>
            <a:off x="6446520" y="4267198"/>
            <a:ext cx="49377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./index.html   ( . = current dir, .. = parent )</a:t>
            </a:r>
          </a:p>
        </p:txBody>
      </p:sp>
      <p:sp>
        <p:nvSpPr>
          <p:cNvPr id="478" name="Text 18"/>
          <p:cNvSpPr txBox="1"/>
          <p:nvPr/>
        </p:nvSpPr>
        <p:spPr>
          <a:xfrm>
            <a:off x="6446520" y="5190666"/>
            <a:ext cx="4937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i="1" sz="11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Best for: links within a project you might move to another location or machine.</a:t>
            </a:r>
          </a:p>
        </p:txBody>
      </p:sp>
      <p:sp>
        <p:nvSpPr>
          <p:cNvPr id="479" name="Text 19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ABSOLUTE &amp; RELATIVE PATHS</a:t>
            </a:r>
          </a:p>
        </p:txBody>
      </p:sp>
      <p:sp>
        <p:nvSpPr>
          <p:cNvPr id="480" name="Text 20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Screenshot 2026-07-04 at 9.32.44 AM.png" descr="Screenshot 2026-07-04 at 9.32.44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2700" y="-388939"/>
            <a:ext cx="12217401" cy="76358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5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LINUX FILE SYSTEM</a:t>
            </a:r>
          </a:p>
        </p:txBody>
      </p:sp>
      <p:sp>
        <p:nvSpPr>
          <p:cNvPr id="486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Where Commands Live &amp; How to Learn Them</a:t>
            </a:r>
          </a:p>
        </p:txBody>
      </p:sp>
      <p:sp>
        <p:nvSpPr>
          <p:cNvPr id="487" name="Shape 3"/>
          <p:cNvSpPr/>
          <p:nvPr/>
        </p:nvSpPr>
        <p:spPr>
          <a:xfrm>
            <a:off x="502919" y="1828800"/>
            <a:ext cx="5394962" cy="4251960"/>
          </a:xfrm>
          <a:prstGeom prst="roundRect">
            <a:avLst>
              <a:gd name="adj" fmla="val 1935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8" name="Text 4"/>
          <p:cNvSpPr txBox="1"/>
          <p:nvPr/>
        </p:nvSpPr>
        <p:spPr>
          <a:xfrm>
            <a:off x="758950" y="2101282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Finding a Command</a:t>
            </a:r>
          </a:p>
        </p:txBody>
      </p:sp>
      <p:sp>
        <p:nvSpPr>
          <p:cNvPr id="489" name="Text 5"/>
          <p:cNvSpPr txBox="1"/>
          <p:nvPr/>
        </p:nvSpPr>
        <p:spPr>
          <a:xfrm>
            <a:off x="758950" y="2432304"/>
            <a:ext cx="4882900" cy="138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Commands are just executable files stored on disk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Common folders: /bin, /usr/bin, /usr/local/bin, /sbin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which ls  →  shows the exact path used, e.g. /bin/ls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echo $PATH  →  lists all folders the shell searches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3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type &lt;cmd&gt;  →  shows whether it's a program, alias or built-in</a:t>
            </a:r>
          </a:p>
        </p:txBody>
      </p:sp>
      <p:sp>
        <p:nvSpPr>
          <p:cNvPr id="490" name="Shape 6"/>
          <p:cNvSpPr/>
          <p:nvPr/>
        </p:nvSpPr>
        <p:spPr>
          <a:xfrm>
            <a:off x="6172200" y="1828800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0B3D62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Shape 7"/>
          <p:cNvSpPr/>
          <p:nvPr/>
        </p:nvSpPr>
        <p:spPr>
          <a:xfrm>
            <a:off x="6446520" y="2057400"/>
            <a:ext cx="457203" cy="4572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9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69964" y="2180844"/>
            <a:ext cx="210314" cy="210314"/>
          </a:xfrm>
          <a:prstGeom prst="rect">
            <a:avLst/>
          </a:prstGeom>
          <a:ln w="12700">
            <a:miter lim="400000"/>
          </a:ln>
        </p:spPr>
      </p:pic>
      <p:sp>
        <p:nvSpPr>
          <p:cNvPr id="493" name="Text 8"/>
          <p:cNvSpPr txBox="1"/>
          <p:nvPr/>
        </p:nvSpPr>
        <p:spPr>
          <a:xfrm>
            <a:off x="7040880" y="2211009"/>
            <a:ext cx="4480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man Command</a:t>
            </a:r>
          </a:p>
        </p:txBody>
      </p:sp>
      <p:sp>
        <p:nvSpPr>
          <p:cNvPr id="494" name="Text 9"/>
          <p:cNvSpPr txBox="1"/>
          <p:nvPr/>
        </p:nvSpPr>
        <p:spPr>
          <a:xfrm>
            <a:off x="6446520" y="2606038"/>
            <a:ext cx="4937762" cy="1289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man ls</a:t>
            </a:r>
          </a:p>
          <a:p>
            <a:pPr>
              <a:spcBef>
                <a:spcPts val="1000"/>
              </a:spcBef>
              <a:defRPr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Opens the manual page for a command — full syntax, flags &amp; examples.</a:t>
            </a:r>
            <a:endParaRPr sz="1300"/>
          </a:p>
          <a:p>
            <a:pPr>
              <a:defRPr sz="1300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man -k "copy"</a:t>
            </a:r>
          </a:p>
          <a:p>
            <a:pPr>
              <a:spcBef>
                <a:spcPts val="1000"/>
              </a:spcBef>
              <a:defRPr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Searches manual page descriptions for a keyword.</a:t>
            </a:r>
            <a:endParaRPr sz="1300"/>
          </a:p>
          <a:p>
            <a:pPr>
              <a:defRPr sz="1300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&lt;cmd&gt; --help</a:t>
            </a:r>
          </a:p>
          <a:p>
            <a:pPr>
              <a:defRPr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Quick summary of options, without the full manual.</a:t>
            </a:r>
          </a:p>
        </p:txBody>
      </p:sp>
      <p:sp>
        <p:nvSpPr>
          <p:cNvPr id="495" name="Text 10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COMMAND LOCATIONS &amp; HELP</a:t>
            </a:r>
          </a:p>
        </p:txBody>
      </p:sp>
      <p:sp>
        <p:nvSpPr>
          <p:cNvPr id="496" name="Text 11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9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NUMBER SYSTEMS · PART 1 OF 2</a:t>
            </a:r>
          </a:p>
        </p:txBody>
      </p:sp>
      <p:sp>
        <p:nvSpPr>
          <p:cNvPr id="500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Binary, Decimal, Octal &amp; Hexadecimal</a:t>
            </a:r>
          </a:p>
        </p:txBody>
      </p:sp>
      <p:sp>
        <p:nvSpPr>
          <p:cNvPr id="501" name="Shape 3"/>
          <p:cNvSpPr/>
          <p:nvPr/>
        </p:nvSpPr>
        <p:spPr>
          <a:xfrm>
            <a:off x="502919" y="1874520"/>
            <a:ext cx="2606041" cy="2331722"/>
          </a:xfrm>
          <a:prstGeom prst="roundRect">
            <a:avLst>
              <a:gd name="adj" fmla="val 3529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Shape 4"/>
          <p:cNvSpPr/>
          <p:nvPr/>
        </p:nvSpPr>
        <p:spPr>
          <a:xfrm>
            <a:off x="1495044" y="2075688"/>
            <a:ext cx="621795" cy="62179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0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926" y="2243571"/>
            <a:ext cx="286026" cy="286026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Text 5"/>
          <p:cNvSpPr txBox="1"/>
          <p:nvPr/>
        </p:nvSpPr>
        <p:spPr>
          <a:xfrm>
            <a:off x="594359" y="2840544"/>
            <a:ext cx="242316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Decimal</a:t>
            </a:r>
          </a:p>
        </p:txBody>
      </p:sp>
      <p:sp>
        <p:nvSpPr>
          <p:cNvPr id="505" name="Text 6"/>
          <p:cNvSpPr txBox="1"/>
          <p:nvPr/>
        </p:nvSpPr>
        <p:spPr>
          <a:xfrm>
            <a:off x="594359" y="3142409"/>
            <a:ext cx="242316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Base 10</a:t>
            </a:r>
          </a:p>
        </p:txBody>
      </p:sp>
      <p:sp>
        <p:nvSpPr>
          <p:cNvPr id="506" name="Text 7"/>
          <p:cNvSpPr txBox="1"/>
          <p:nvPr/>
        </p:nvSpPr>
        <p:spPr>
          <a:xfrm>
            <a:off x="594359" y="3424471"/>
            <a:ext cx="242316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Digits 0–9</a:t>
            </a:r>
          </a:p>
        </p:txBody>
      </p:sp>
      <p:sp>
        <p:nvSpPr>
          <p:cNvPr id="507" name="Text 8"/>
          <p:cNvSpPr txBox="1"/>
          <p:nvPr/>
        </p:nvSpPr>
        <p:spPr>
          <a:xfrm>
            <a:off x="594359" y="3839209"/>
            <a:ext cx="242316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number 42 → 42</a:t>
            </a:r>
          </a:p>
        </p:txBody>
      </p:sp>
      <p:sp>
        <p:nvSpPr>
          <p:cNvPr id="508" name="Shape 9"/>
          <p:cNvSpPr/>
          <p:nvPr/>
        </p:nvSpPr>
        <p:spPr>
          <a:xfrm>
            <a:off x="3337559" y="1874520"/>
            <a:ext cx="2606041" cy="2331722"/>
          </a:xfrm>
          <a:prstGeom prst="roundRect">
            <a:avLst>
              <a:gd name="adj" fmla="val 3529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9" name="Shape 10"/>
          <p:cNvSpPr/>
          <p:nvPr/>
        </p:nvSpPr>
        <p:spPr>
          <a:xfrm>
            <a:off x="4329684" y="2075688"/>
            <a:ext cx="621795" cy="621795"/>
          </a:xfrm>
          <a:prstGeom prst="ellipse">
            <a:avLst/>
          </a:prstGeom>
          <a:solidFill>
            <a:srgbClr val="0B3D62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1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97568" y="2243571"/>
            <a:ext cx="286026" cy="286026"/>
          </a:xfrm>
          <a:prstGeom prst="rect">
            <a:avLst/>
          </a:prstGeom>
          <a:ln w="12700">
            <a:miter lim="400000"/>
          </a:ln>
        </p:spPr>
      </p:pic>
      <p:sp>
        <p:nvSpPr>
          <p:cNvPr id="511" name="Text 11"/>
          <p:cNvSpPr txBox="1"/>
          <p:nvPr/>
        </p:nvSpPr>
        <p:spPr>
          <a:xfrm>
            <a:off x="3428999" y="2840544"/>
            <a:ext cx="242316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Binary</a:t>
            </a:r>
          </a:p>
        </p:txBody>
      </p:sp>
      <p:sp>
        <p:nvSpPr>
          <p:cNvPr id="512" name="Text 12"/>
          <p:cNvSpPr txBox="1"/>
          <p:nvPr/>
        </p:nvSpPr>
        <p:spPr>
          <a:xfrm>
            <a:off x="3428999" y="3142409"/>
            <a:ext cx="2423163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Base 2</a:t>
            </a:r>
          </a:p>
        </p:txBody>
      </p:sp>
      <p:sp>
        <p:nvSpPr>
          <p:cNvPr id="513" name="Text 13"/>
          <p:cNvSpPr txBox="1"/>
          <p:nvPr/>
        </p:nvSpPr>
        <p:spPr>
          <a:xfrm>
            <a:off x="3428999" y="3424471"/>
            <a:ext cx="242316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Digits 0–1</a:t>
            </a:r>
          </a:p>
        </p:txBody>
      </p:sp>
      <p:sp>
        <p:nvSpPr>
          <p:cNvPr id="514" name="Text 14"/>
          <p:cNvSpPr txBox="1"/>
          <p:nvPr/>
        </p:nvSpPr>
        <p:spPr>
          <a:xfrm>
            <a:off x="3428999" y="3839209"/>
            <a:ext cx="242316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number 42 → 101010</a:t>
            </a:r>
          </a:p>
        </p:txBody>
      </p:sp>
      <p:sp>
        <p:nvSpPr>
          <p:cNvPr id="515" name="Shape 15"/>
          <p:cNvSpPr/>
          <p:nvPr/>
        </p:nvSpPr>
        <p:spPr>
          <a:xfrm>
            <a:off x="6172200" y="1874520"/>
            <a:ext cx="2606040" cy="2331722"/>
          </a:xfrm>
          <a:prstGeom prst="roundRect">
            <a:avLst>
              <a:gd name="adj" fmla="val 3529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6" name="Shape 16"/>
          <p:cNvSpPr/>
          <p:nvPr/>
        </p:nvSpPr>
        <p:spPr>
          <a:xfrm>
            <a:off x="7164323" y="2075688"/>
            <a:ext cx="621795" cy="621795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1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32208" y="2243571"/>
            <a:ext cx="286026" cy="286026"/>
          </a:xfrm>
          <a:prstGeom prst="rect">
            <a:avLst/>
          </a:prstGeom>
          <a:ln w="12700">
            <a:miter lim="400000"/>
          </a:ln>
        </p:spPr>
      </p:pic>
      <p:sp>
        <p:nvSpPr>
          <p:cNvPr id="518" name="Text 17"/>
          <p:cNvSpPr txBox="1"/>
          <p:nvPr/>
        </p:nvSpPr>
        <p:spPr>
          <a:xfrm>
            <a:off x="6263640" y="2840544"/>
            <a:ext cx="24231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Octal</a:t>
            </a:r>
          </a:p>
        </p:txBody>
      </p:sp>
      <p:sp>
        <p:nvSpPr>
          <p:cNvPr id="519" name="Text 18"/>
          <p:cNvSpPr txBox="1"/>
          <p:nvPr/>
        </p:nvSpPr>
        <p:spPr>
          <a:xfrm>
            <a:off x="6263640" y="3142409"/>
            <a:ext cx="24231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Base 8</a:t>
            </a:r>
          </a:p>
        </p:txBody>
      </p:sp>
      <p:sp>
        <p:nvSpPr>
          <p:cNvPr id="520" name="Text 19"/>
          <p:cNvSpPr txBox="1"/>
          <p:nvPr/>
        </p:nvSpPr>
        <p:spPr>
          <a:xfrm>
            <a:off x="6263640" y="3424471"/>
            <a:ext cx="24231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Digits 0–7</a:t>
            </a:r>
          </a:p>
        </p:txBody>
      </p:sp>
      <p:sp>
        <p:nvSpPr>
          <p:cNvPr id="521" name="Text 20"/>
          <p:cNvSpPr txBox="1"/>
          <p:nvPr/>
        </p:nvSpPr>
        <p:spPr>
          <a:xfrm>
            <a:off x="6263640" y="3839209"/>
            <a:ext cx="24231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number 42 → 52</a:t>
            </a:r>
          </a:p>
        </p:txBody>
      </p:sp>
      <p:sp>
        <p:nvSpPr>
          <p:cNvPr id="522" name="Shape 21"/>
          <p:cNvSpPr/>
          <p:nvPr/>
        </p:nvSpPr>
        <p:spPr>
          <a:xfrm>
            <a:off x="9006840" y="1874520"/>
            <a:ext cx="2606042" cy="2331722"/>
          </a:xfrm>
          <a:prstGeom prst="roundRect">
            <a:avLst>
              <a:gd name="adj" fmla="val 3529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3" name="Shape 22"/>
          <p:cNvSpPr/>
          <p:nvPr/>
        </p:nvSpPr>
        <p:spPr>
          <a:xfrm>
            <a:off x="9998964" y="2075688"/>
            <a:ext cx="621795" cy="62179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2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166846" y="2243571"/>
            <a:ext cx="286026" cy="286026"/>
          </a:xfrm>
          <a:prstGeom prst="rect">
            <a:avLst/>
          </a:prstGeom>
          <a:ln w="12700">
            <a:miter lim="400000"/>
          </a:ln>
        </p:spPr>
      </p:pic>
      <p:sp>
        <p:nvSpPr>
          <p:cNvPr id="525" name="Text 23"/>
          <p:cNvSpPr txBox="1"/>
          <p:nvPr/>
        </p:nvSpPr>
        <p:spPr>
          <a:xfrm>
            <a:off x="9098280" y="2840544"/>
            <a:ext cx="24231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Hexadecimal</a:t>
            </a:r>
          </a:p>
        </p:txBody>
      </p:sp>
      <p:sp>
        <p:nvSpPr>
          <p:cNvPr id="526" name="Text 24"/>
          <p:cNvSpPr txBox="1"/>
          <p:nvPr/>
        </p:nvSpPr>
        <p:spPr>
          <a:xfrm>
            <a:off x="9098280" y="3142409"/>
            <a:ext cx="242316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Base 16</a:t>
            </a:r>
          </a:p>
        </p:txBody>
      </p:sp>
      <p:sp>
        <p:nvSpPr>
          <p:cNvPr id="527" name="Text 25"/>
          <p:cNvSpPr txBox="1"/>
          <p:nvPr/>
        </p:nvSpPr>
        <p:spPr>
          <a:xfrm>
            <a:off x="9098280" y="3424471"/>
            <a:ext cx="24231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Digits 0–9, A–F</a:t>
            </a:r>
          </a:p>
        </p:txBody>
      </p:sp>
      <p:sp>
        <p:nvSpPr>
          <p:cNvPr id="528" name="Text 26"/>
          <p:cNvSpPr txBox="1"/>
          <p:nvPr/>
        </p:nvSpPr>
        <p:spPr>
          <a:xfrm>
            <a:off x="9098280" y="3839209"/>
            <a:ext cx="242316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1A2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The number 42 → 2A</a:t>
            </a:r>
          </a:p>
        </p:txBody>
      </p:sp>
      <p:sp>
        <p:nvSpPr>
          <p:cNvPr id="529" name="Shape 27"/>
          <p:cNvSpPr/>
          <p:nvPr/>
        </p:nvSpPr>
        <p:spPr>
          <a:xfrm>
            <a:off x="502919" y="4480559"/>
            <a:ext cx="11155682" cy="1600202"/>
          </a:xfrm>
          <a:prstGeom prst="roundRect">
            <a:avLst>
              <a:gd name="adj" fmla="val 5143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0" name="Text 28"/>
          <p:cNvSpPr txBox="1"/>
          <p:nvPr/>
        </p:nvSpPr>
        <p:spPr>
          <a:xfrm>
            <a:off x="758950" y="4753042"/>
            <a:ext cx="106436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Place Value — How a Base Works</a:t>
            </a:r>
          </a:p>
        </p:txBody>
      </p:sp>
      <p:sp>
        <p:nvSpPr>
          <p:cNvPr id="531" name="Text 29"/>
          <p:cNvSpPr txBox="1"/>
          <p:nvPr/>
        </p:nvSpPr>
        <p:spPr>
          <a:xfrm>
            <a:off x="758950" y="5084064"/>
            <a:ext cx="10643620" cy="642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7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Each digit's value = digit × (base ^ position), counted right-to-left starting at position 0</a:t>
            </a:r>
          </a:p>
          <a:p>
            <a:pPr marL="177800" indent="-177800">
              <a:spcBef>
                <a:spcPts val="7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Example (binary 101010): (1×2⁵)+(0×2⁴)+(1×2³)+(0×2²)+(1×2¹)+(0×2⁰) = 32+8+2 = 42</a:t>
            </a:r>
          </a:p>
          <a:p>
            <a:pPr marL="177800" indent="-177800">
              <a:spcBef>
                <a:spcPts val="7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Computers use binary natively; hex is a compact, human-friendly way to write binary (4 bits = 1 hex digit)</a:t>
            </a:r>
          </a:p>
        </p:txBody>
      </p:sp>
      <p:sp>
        <p:nvSpPr>
          <p:cNvPr id="532" name="Text 30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NUMBER SYSTEMS I</a:t>
            </a:r>
          </a:p>
        </p:txBody>
      </p:sp>
      <p:sp>
        <p:nvSpPr>
          <p:cNvPr id="533" name="Text 31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NUMBER SYSTEMS · PART 2 OF 2</a:t>
            </a:r>
          </a:p>
        </p:txBody>
      </p:sp>
      <p:sp>
        <p:nvSpPr>
          <p:cNvPr id="537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Converting Between Number Systems</a:t>
            </a:r>
          </a:p>
        </p:txBody>
      </p:sp>
      <p:sp>
        <p:nvSpPr>
          <p:cNvPr id="538" name="Shape 3"/>
          <p:cNvSpPr/>
          <p:nvPr/>
        </p:nvSpPr>
        <p:spPr>
          <a:xfrm>
            <a:off x="502919" y="1828800"/>
            <a:ext cx="5394962" cy="2011680"/>
          </a:xfrm>
          <a:prstGeom prst="roundRect">
            <a:avLst>
              <a:gd name="adj" fmla="val 4091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Text 4"/>
          <p:cNvSpPr txBox="1"/>
          <p:nvPr/>
        </p:nvSpPr>
        <p:spPr>
          <a:xfrm>
            <a:off x="758950" y="2101282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Decimal → Binary</a:t>
            </a:r>
          </a:p>
        </p:txBody>
      </p:sp>
      <p:sp>
        <p:nvSpPr>
          <p:cNvPr id="540" name="Text 5"/>
          <p:cNvSpPr txBox="1"/>
          <p:nvPr/>
        </p:nvSpPr>
        <p:spPr>
          <a:xfrm>
            <a:off x="758950" y="2432304"/>
            <a:ext cx="4882900" cy="820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Repeatedly divide by 2, record the remainders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Read the remainders bottom-to-top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42 ÷ 2 → 21 r0 → 10 r1 → 5 r0 → 2 r1 → 1 r0 → 0 r1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Result:  101010</a:t>
            </a:r>
          </a:p>
        </p:txBody>
      </p:sp>
      <p:sp>
        <p:nvSpPr>
          <p:cNvPr id="541" name="Shape 6"/>
          <p:cNvSpPr/>
          <p:nvPr/>
        </p:nvSpPr>
        <p:spPr>
          <a:xfrm>
            <a:off x="6172200" y="182880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Text 7"/>
          <p:cNvSpPr txBox="1"/>
          <p:nvPr/>
        </p:nvSpPr>
        <p:spPr>
          <a:xfrm>
            <a:off x="6428232" y="2101282"/>
            <a:ext cx="4974336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Binary → Decimal</a:t>
            </a:r>
          </a:p>
        </p:txBody>
      </p:sp>
      <p:sp>
        <p:nvSpPr>
          <p:cNvPr id="543" name="Text 8"/>
          <p:cNvSpPr txBox="1"/>
          <p:nvPr/>
        </p:nvSpPr>
        <p:spPr>
          <a:xfrm>
            <a:off x="6428232" y="2432304"/>
            <a:ext cx="4974336" cy="59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Multiply each bit by 2^(position), then sum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101010 = 1·32 + 0·16 + 1·8 + 0·4 + 1·2 + 0·1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= 32 + 8 + 2 = 42</a:t>
            </a:r>
          </a:p>
        </p:txBody>
      </p:sp>
      <p:sp>
        <p:nvSpPr>
          <p:cNvPr id="544" name="Shape 9"/>
          <p:cNvSpPr/>
          <p:nvPr/>
        </p:nvSpPr>
        <p:spPr>
          <a:xfrm>
            <a:off x="502919" y="4023359"/>
            <a:ext cx="5394962" cy="2057402"/>
          </a:xfrm>
          <a:prstGeom prst="roundRect">
            <a:avLst>
              <a:gd name="adj" fmla="val 4000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Text 10"/>
          <p:cNvSpPr txBox="1"/>
          <p:nvPr/>
        </p:nvSpPr>
        <p:spPr>
          <a:xfrm>
            <a:off x="758950" y="4295842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Decimal → Hexadecimal</a:t>
            </a:r>
          </a:p>
        </p:txBody>
      </p:sp>
      <p:sp>
        <p:nvSpPr>
          <p:cNvPr id="546" name="Text 11"/>
          <p:cNvSpPr txBox="1"/>
          <p:nvPr/>
        </p:nvSpPr>
        <p:spPr>
          <a:xfrm>
            <a:off x="758950" y="4626864"/>
            <a:ext cx="4882900" cy="59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Repeatedly divide by 16, record remainders (0–9, A–F)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42 ÷ 16 → 2 r10(A) → 0 r2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Read bottom-to-top:  2A</a:t>
            </a:r>
          </a:p>
        </p:txBody>
      </p:sp>
      <p:sp>
        <p:nvSpPr>
          <p:cNvPr id="547" name="Shape 12"/>
          <p:cNvSpPr/>
          <p:nvPr/>
        </p:nvSpPr>
        <p:spPr>
          <a:xfrm>
            <a:off x="6172200" y="4023359"/>
            <a:ext cx="5486400" cy="2057402"/>
          </a:xfrm>
          <a:prstGeom prst="roundRect">
            <a:avLst>
              <a:gd name="adj" fmla="val 4000"/>
            </a:avLst>
          </a:prstGeom>
          <a:solidFill>
            <a:srgbClr val="DCEEF2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Text 13"/>
          <p:cNvSpPr txBox="1"/>
          <p:nvPr/>
        </p:nvSpPr>
        <p:spPr>
          <a:xfrm>
            <a:off x="6428232" y="4295842"/>
            <a:ext cx="4974336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Binary ↔ Hexadecimal (fast path)</a:t>
            </a:r>
          </a:p>
        </p:txBody>
      </p:sp>
      <p:sp>
        <p:nvSpPr>
          <p:cNvPr id="549" name="Text 14"/>
          <p:cNvSpPr txBox="1"/>
          <p:nvPr/>
        </p:nvSpPr>
        <p:spPr>
          <a:xfrm>
            <a:off x="6428232" y="4626864"/>
            <a:ext cx="4974336" cy="59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Group binary digits in sets of 4, convert each group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1010 10 → pad to 0010 1010 → groups: 0010 = 2, 1010 = A</a:t>
            </a:r>
          </a:p>
          <a:p>
            <a:pPr marL="177800" indent="-177800">
              <a:spcBef>
                <a:spcPts val="5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Result:  2A  — this is why hex is popular in computing</a:t>
            </a:r>
          </a:p>
        </p:txBody>
      </p:sp>
      <p:sp>
        <p:nvSpPr>
          <p:cNvPr id="550" name="Text 15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NUMBER SYSTEMS II</a:t>
            </a:r>
          </a:p>
        </p:txBody>
      </p:sp>
      <p:sp>
        <p:nvSpPr>
          <p:cNvPr id="551" name="Text 16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0"/>
          <p:cNvSpPr/>
          <p:nvPr/>
        </p:nvSpPr>
        <p:spPr>
          <a:xfrm>
            <a:off x="8961118" y="-3291841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4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DEBUGGING IN C · PART 1 OF 2</a:t>
            </a:r>
          </a:p>
        </p:txBody>
      </p:sp>
      <p:sp>
        <p:nvSpPr>
          <p:cNvPr id="555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Clang Debugger — LLDB</a:t>
            </a:r>
          </a:p>
        </p:txBody>
      </p:sp>
      <p:sp>
        <p:nvSpPr>
          <p:cNvPr id="556" name="Shape 3"/>
          <p:cNvSpPr/>
          <p:nvPr/>
        </p:nvSpPr>
        <p:spPr>
          <a:xfrm>
            <a:off x="502919" y="1828800"/>
            <a:ext cx="5394962" cy="4251960"/>
          </a:xfrm>
          <a:prstGeom prst="roundRect">
            <a:avLst>
              <a:gd name="adj" fmla="val 1935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7" name="Text 4"/>
          <p:cNvSpPr txBox="1"/>
          <p:nvPr/>
        </p:nvSpPr>
        <p:spPr>
          <a:xfrm>
            <a:off x="758950" y="2101282"/>
            <a:ext cx="48829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What Is LLDB?</a:t>
            </a:r>
          </a:p>
        </p:txBody>
      </p:sp>
      <p:sp>
        <p:nvSpPr>
          <p:cNvPr id="558" name="Text 5"/>
          <p:cNvSpPr txBox="1"/>
          <p:nvPr/>
        </p:nvSpPr>
        <p:spPr>
          <a:xfrm>
            <a:off x="758950" y="2432304"/>
            <a:ext cx="4882900" cy="1515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debugger that ships with Clang / LLVM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Lets you pause a running program and inspect it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Compile with debug symbols first:  clang -g program.c -o program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Launch it with:  lldb ./program</a:t>
            </a:r>
          </a:p>
          <a:p>
            <a:pPr marL="177800" indent="-177800">
              <a:spcBef>
                <a:spcPts val="800"/>
              </a:spcBef>
              <a:buSzPct val="100000"/>
              <a:buChar char="•"/>
              <a:defRPr sz="12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Debugging turns 'guessing' into 'observing' — you watch the program's real state instead of assuming it</a:t>
            </a:r>
          </a:p>
        </p:txBody>
      </p:sp>
      <p:sp>
        <p:nvSpPr>
          <p:cNvPr id="559" name="Shape 6"/>
          <p:cNvSpPr/>
          <p:nvPr/>
        </p:nvSpPr>
        <p:spPr>
          <a:xfrm>
            <a:off x="6172200" y="1828800"/>
            <a:ext cx="5486400" cy="4251960"/>
          </a:xfrm>
          <a:prstGeom prst="roundRect">
            <a:avLst>
              <a:gd name="adj" fmla="val 1935"/>
            </a:avLst>
          </a:prstGeom>
          <a:solidFill>
            <a:srgbClr val="0B3D62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0" name="Shape 7"/>
          <p:cNvSpPr/>
          <p:nvPr/>
        </p:nvSpPr>
        <p:spPr>
          <a:xfrm>
            <a:off x="6446520" y="2057400"/>
            <a:ext cx="457203" cy="457200"/>
          </a:xfrm>
          <a:prstGeom prst="ellipse">
            <a:avLst/>
          </a:prstGeom>
          <a:solidFill>
            <a:srgbClr val="F2A54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69964" y="2180844"/>
            <a:ext cx="210314" cy="210314"/>
          </a:xfrm>
          <a:prstGeom prst="rect">
            <a:avLst/>
          </a:prstGeom>
          <a:ln w="12700">
            <a:miter lim="400000"/>
          </a:ln>
        </p:spPr>
      </p:pic>
      <p:sp>
        <p:nvSpPr>
          <p:cNvPr id="562" name="Text 8"/>
          <p:cNvSpPr txBox="1"/>
          <p:nvPr/>
        </p:nvSpPr>
        <p:spPr>
          <a:xfrm>
            <a:off x="7040880" y="2211009"/>
            <a:ext cx="4480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Setting a Breakpoint</a:t>
            </a:r>
          </a:p>
        </p:txBody>
      </p:sp>
      <p:sp>
        <p:nvSpPr>
          <p:cNvPr id="563" name="Text 9"/>
          <p:cNvSpPr txBox="1"/>
          <p:nvPr/>
        </p:nvSpPr>
        <p:spPr>
          <a:xfrm>
            <a:off x="6446520" y="2606038"/>
            <a:ext cx="4937762" cy="1251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breakpoint set --name main</a:t>
            </a:r>
          </a:p>
          <a:p>
            <a:pPr>
              <a:spcBef>
                <a:spcPts val="1000"/>
              </a:spcBef>
              <a:defRPr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Pauses execution at the start of main()</a:t>
            </a:r>
            <a:endParaRPr sz="1200"/>
          </a:p>
          <a:p>
            <a:pPr>
              <a:defRPr sz="1200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breakpoint set --file f.c --line 12</a:t>
            </a:r>
          </a:p>
          <a:p>
            <a:pPr>
              <a:spcBef>
                <a:spcPts val="1000"/>
              </a:spcBef>
              <a:defRPr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Pauses execution at a specific line</a:t>
            </a:r>
            <a:endParaRPr sz="1200"/>
          </a:p>
          <a:p>
            <a:pPr>
              <a:defRPr sz="1200">
                <a:solidFill>
                  <a:srgbClr val="F2A54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run  (or  r)</a:t>
            </a:r>
          </a:p>
          <a:p>
            <a:pPr>
              <a:defRPr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Starts the program — it halts at your breakpoint</a:t>
            </a:r>
          </a:p>
        </p:txBody>
      </p:sp>
      <p:sp>
        <p:nvSpPr>
          <p:cNvPr id="564" name="Text 10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DEBUGGING — LLDB I</a:t>
            </a:r>
          </a:p>
        </p:txBody>
      </p:sp>
      <p:sp>
        <p:nvSpPr>
          <p:cNvPr id="565" name="Text 11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0"/>
          <p:cNvSpPr/>
          <p:nvPr/>
        </p:nvSpPr>
        <p:spPr>
          <a:xfrm>
            <a:off x="8778240" y="3474720"/>
            <a:ext cx="4206243" cy="4206243"/>
          </a:xfrm>
          <a:prstGeom prst="ellipse">
            <a:avLst/>
          </a:prstGeom>
          <a:solidFill>
            <a:srgbClr val="EAF3F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8" name="Text 1"/>
          <p:cNvSpPr txBox="1"/>
          <p:nvPr/>
        </p:nvSpPr>
        <p:spPr>
          <a:xfrm>
            <a:off x="502919" y="451919"/>
            <a:ext cx="91440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DEBUGGING IN C · PART 2 OF 2</a:t>
            </a:r>
          </a:p>
        </p:txBody>
      </p:sp>
      <p:sp>
        <p:nvSpPr>
          <p:cNvPr id="569" name="Text 2"/>
          <p:cNvSpPr txBox="1"/>
          <p:nvPr/>
        </p:nvSpPr>
        <p:spPr>
          <a:xfrm>
            <a:off x="502918" y="818388"/>
            <a:ext cx="10607044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0B3D6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Stepping Through Code &amp; Watching Variables</a:t>
            </a:r>
          </a:p>
        </p:txBody>
      </p:sp>
      <p:sp>
        <p:nvSpPr>
          <p:cNvPr id="570" name="Shape 3"/>
          <p:cNvSpPr/>
          <p:nvPr/>
        </p:nvSpPr>
        <p:spPr>
          <a:xfrm>
            <a:off x="502919" y="1828800"/>
            <a:ext cx="2651762" cy="1417320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1" name="Text 4"/>
          <p:cNvSpPr txBox="1"/>
          <p:nvPr/>
        </p:nvSpPr>
        <p:spPr>
          <a:xfrm>
            <a:off x="649222" y="2062733"/>
            <a:ext cx="23591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next  (n)</a:t>
            </a:r>
          </a:p>
        </p:txBody>
      </p:sp>
      <p:sp>
        <p:nvSpPr>
          <p:cNvPr id="572" name="Text 5"/>
          <p:cNvSpPr txBox="1"/>
          <p:nvPr/>
        </p:nvSpPr>
        <p:spPr>
          <a:xfrm>
            <a:off x="649222" y="2616118"/>
            <a:ext cx="2359156" cy="309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Execute the current line, step OVER function calls</a:t>
            </a:r>
          </a:p>
        </p:txBody>
      </p:sp>
      <p:sp>
        <p:nvSpPr>
          <p:cNvPr id="573" name="Shape 6"/>
          <p:cNvSpPr/>
          <p:nvPr/>
        </p:nvSpPr>
        <p:spPr>
          <a:xfrm>
            <a:off x="3319271" y="1828800"/>
            <a:ext cx="2651762" cy="1417320"/>
          </a:xfrm>
          <a:prstGeom prst="roundRect">
            <a:avLst>
              <a:gd name="adj" fmla="val 580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Text 7"/>
          <p:cNvSpPr txBox="1"/>
          <p:nvPr/>
        </p:nvSpPr>
        <p:spPr>
          <a:xfrm>
            <a:off x="3465576" y="2062733"/>
            <a:ext cx="2359154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step  (s)</a:t>
            </a:r>
          </a:p>
        </p:txBody>
      </p:sp>
      <p:sp>
        <p:nvSpPr>
          <p:cNvPr id="575" name="Text 8"/>
          <p:cNvSpPr txBox="1"/>
          <p:nvPr/>
        </p:nvSpPr>
        <p:spPr>
          <a:xfrm>
            <a:off x="3465576" y="2616118"/>
            <a:ext cx="2359154" cy="309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Execute the current line, step INTO function calls</a:t>
            </a:r>
          </a:p>
        </p:txBody>
      </p:sp>
      <p:sp>
        <p:nvSpPr>
          <p:cNvPr id="576" name="Shape 9"/>
          <p:cNvSpPr/>
          <p:nvPr/>
        </p:nvSpPr>
        <p:spPr>
          <a:xfrm>
            <a:off x="6135623" y="1828800"/>
            <a:ext cx="2651762" cy="1417320"/>
          </a:xfrm>
          <a:prstGeom prst="roundRect">
            <a:avLst>
              <a:gd name="adj" fmla="val 580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Text 10"/>
          <p:cNvSpPr txBox="1"/>
          <p:nvPr/>
        </p:nvSpPr>
        <p:spPr>
          <a:xfrm>
            <a:off x="6281928" y="2062733"/>
            <a:ext cx="2359154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print x  (p x)</a:t>
            </a:r>
          </a:p>
        </p:txBody>
      </p:sp>
      <p:sp>
        <p:nvSpPr>
          <p:cNvPr id="578" name="Text 11"/>
          <p:cNvSpPr txBox="1"/>
          <p:nvPr/>
        </p:nvSpPr>
        <p:spPr>
          <a:xfrm>
            <a:off x="6281928" y="2702095"/>
            <a:ext cx="23591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Show the current value of variable x</a:t>
            </a:r>
          </a:p>
        </p:txBody>
      </p:sp>
      <p:sp>
        <p:nvSpPr>
          <p:cNvPr id="579" name="Shape 12"/>
          <p:cNvSpPr/>
          <p:nvPr/>
        </p:nvSpPr>
        <p:spPr>
          <a:xfrm>
            <a:off x="8951976" y="1828800"/>
            <a:ext cx="2651762" cy="1417320"/>
          </a:xfrm>
          <a:prstGeom prst="roundRect">
            <a:avLst>
              <a:gd name="adj" fmla="val 5806"/>
            </a:avLst>
          </a:prstGeom>
          <a:solidFill>
            <a:srgbClr val="FDF1DE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Text 13"/>
          <p:cNvSpPr txBox="1"/>
          <p:nvPr/>
        </p:nvSpPr>
        <p:spPr>
          <a:xfrm>
            <a:off x="9098280" y="2062733"/>
            <a:ext cx="2359154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3D6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continue  (c)</a:t>
            </a:r>
          </a:p>
        </p:txBody>
      </p:sp>
      <p:sp>
        <p:nvSpPr>
          <p:cNvPr id="581" name="Text 14"/>
          <p:cNvSpPr txBox="1"/>
          <p:nvPr/>
        </p:nvSpPr>
        <p:spPr>
          <a:xfrm>
            <a:off x="9098280" y="2702095"/>
            <a:ext cx="23591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0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Resume running until the next breakpoint</a:t>
            </a:r>
          </a:p>
        </p:txBody>
      </p:sp>
      <p:sp>
        <p:nvSpPr>
          <p:cNvPr id="582" name="Shape 15"/>
          <p:cNvSpPr/>
          <p:nvPr/>
        </p:nvSpPr>
        <p:spPr>
          <a:xfrm>
            <a:off x="502919" y="3703320"/>
            <a:ext cx="2500885" cy="1325882"/>
          </a:xfrm>
          <a:prstGeom prst="roundRect">
            <a:avLst>
              <a:gd name="adj" fmla="val 6207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3" name="Shape 16"/>
          <p:cNvSpPr/>
          <p:nvPr/>
        </p:nvSpPr>
        <p:spPr>
          <a:xfrm>
            <a:off x="1533905" y="348386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52410" y="360237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585" name="Text 17"/>
          <p:cNvSpPr txBox="1"/>
          <p:nvPr/>
        </p:nvSpPr>
        <p:spPr>
          <a:xfrm>
            <a:off x="594359" y="3846496"/>
            <a:ext cx="4572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86" name="Text 18"/>
          <p:cNvSpPr txBox="1"/>
          <p:nvPr/>
        </p:nvSpPr>
        <p:spPr>
          <a:xfrm>
            <a:off x="612648" y="4150667"/>
            <a:ext cx="22814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Hit Breakpoint</a:t>
            </a:r>
          </a:p>
        </p:txBody>
      </p:sp>
      <p:sp>
        <p:nvSpPr>
          <p:cNvPr id="587" name="Text 19"/>
          <p:cNvSpPr txBox="1"/>
          <p:nvPr/>
        </p:nvSpPr>
        <p:spPr>
          <a:xfrm>
            <a:off x="612648" y="4604510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Execution pauses at the chosen line</a:t>
            </a:r>
          </a:p>
        </p:txBody>
      </p:sp>
      <p:sp>
        <p:nvSpPr>
          <p:cNvPr id="588" name="Shape 20"/>
          <p:cNvSpPr/>
          <p:nvPr/>
        </p:nvSpPr>
        <p:spPr>
          <a:xfrm>
            <a:off x="3049890" y="428396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9" name="Shape 21"/>
          <p:cNvSpPr/>
          <p:nvPr/>
        </p:nvSpPr>
        <p:spPr>
          <a:xfrm>
            <a:off x="3387852" y="3703320"/>
            <a:ext cx="2500886" cy="1325882"/>
          </a:xfrm>
          <a:prstGeom prst="roundRect">
            <a:avLst>
              <a:gd name="adj" fmla="val 6207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Shape 22"/>
          <p:cNvSpPr/>
          <p:nvPr/>
        </p:nvSpPr>
        <p:spPr>
          <a:xfrm>
            <a:off x="4418838" y="3483864"/>
            <a:ext cx="438913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9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37342" y="360237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592" name="Text 23"/>
          <p:cNvSpPr txBox="1"/>
          <p:nvPr/>
        </p:nvSpPr>
        <p:spPr>
          <a:xfrm>
            <a:off x="3479291" y="3846496"/>
            <a:ext cx="4572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93" name="Text 24"/>
          <p:cNvSpPr txBox="1"/>
          <p:nvPr/>
        </p:nvSpPr>
        <p:spPr>
          <a:xfrm>
            <a:off x="3497579" y="4150667"/>
            <a:ext cx="22814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Inspect State</a:t>
            </a:r>
          </a:p>
        </p:txBody>
      </p:sp>
      <p:sp>
        <p:nvSpPr>
          <p:cNvPr id="594" name="Text 25"/>
          <p:cNvSpPr txBox="1"/>
          <p:nvPr/>
        </p:nvSpPr>
        <p:spPr>
          <a:xfrm>
            <a:off x="3497579" y="4604510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print variables to see their current values</a:t>
            </a:r>
          </a:p>
        </p:txBody>
      </p:sp>
      <p:sp>
        <p:nvSpPr>
          <p:cNvPr id="595" name="Shape 26"/>
          <p:cNvSpPr/>
          <p:nvPr/>
        </p:nvSpPr>
        <p:spPr>
          <a:xfrm>
            <a:off x="5934821" y="428396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6" name="Shape 27"/>
          <p:cNvSpPr/>
          <p:nvPr/>
        </p:nvSpPr>
        <p:spPr>
          <a:xfrm>
            <a:off x="6272784" y="3703320"/>
            <a:ext cx="2500886" cy="1325882"/>
          </a:xfrm>
          <a:prstGeom prst="roundRect">
            <a:avLst>
              <a:gd name="adj" fmla="val 6207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7" name="Shape 28"/>
          <p:cNvSpPr/>
          <p:nvPr/>
        </p:nvSpPr>
        <p:spPr>
          <a:xfrm>
            <a:off x="7303768" y="348386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9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22274" y="360237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599" name="Text 29"/>
          <p:cNvSpPr txBox="1"/>
          <p:nvPr/>
        </p:nvSpPr>
        <p:spPr>
          <a:xfrm>
            <a:off x="6364223" y="3846496"/>
            <a:ext cx="4572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00" name="Text 30"/>
          <p:cNvSpPr txBox="1"/>
          <p:nvPr/>
        </p:nvSpPr>
        <p:spPr>
          <a:xfrm>
            <a:off x="6382510" y="4150667"/>
            <a:ext cx="22814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Step Line by Line</a:t>
            </a:r>
          </a:p>
        </p:txBody>
      </p:sp>
      <p:sp>
        <p:nvSpPr>
          <p:cNvPr id="601" name="Text 31"/>
          <p:cNvSpPr txBox="1"/>
          <p:nvPr/>
        </p:nvSpPr>
        <p:spPr>
          <a:xfrm>
            <a:off x="6382510" y="4604510"/>
            <a:ext cx="22814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next / step to move forward one line at a time</a:t>
            </a:r>
          </a:p>
        </p:txBody>
      </p:sp>
      <p:sp>
        <p:nvSpPr>
          <p:cNvPr id="602" name="Shape 32"/>
          <p:cNvSpPr/>
          <p:nvPr/>
        </p:nvSpPr>
        <p:spPr>
          <a:xfrm>
            <a:off x="8819753" y="4283964"/>
            <a:ext cx="291878" cy="16459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3" name="Shape 33"/>
          <p:cNvSpPr/>
          <p:nvPr/>
        </p:nvSpPr>
        <p:spPr>
          <a:xfrm>
            <a:off x="9157716" y="3703320"/>
            <a:ext cx="2500886" cy="1325882"/>
          </a:xfrm>
          <a:prstGeom prst="roundRect">
            <a:avLst>
              <a:gd name="adj" fmla="val 6207"/>
            </a:avLst>
          </a:prstGeom>
          <a:solidFill>
            <a:srgbClr val="F6F9FA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4" name="Shape 34"/>
          <p:cNvSpPr/>
          <p:nvPr/>
        </p:nvSpPr>
        <p:spPr>
          <a:xfrm>
            <a:off x="10188702" y="3483864"/>
            <a:ext cx="438915" cy="438915"/>
          </a:xfrm>
          <a:prstGeom prst="ellipse">
            <a:avLst/>
          </a:prstGeom>
          <a:solidFill>
            <a:srgbClr val="12708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60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07208" y="3602370"/>
            <a:ext cx="201902" cy="201902"/>
          </a:xfrm>
          <a:prstGeom prst="rect">
            <a:avLst/>
          </a:prstGeom>
          <a:ln w="12700">
            <a:miter lim="400000"/>
          </a:ln>
        </p:spPr>
      </p:pic>
      <p:sp>
        <p:nvSpPr>
          <p:cNvPr id="606" name="Text 35"/>
          <p:cNvSpPr txBox="1"/>
          <p:nvPr/>
        </p:nvSpPr>
        <p:spPr>
          <a:xfrm>
            <a:off x="9249156" y="3846496"/>
            <a:ext cx="45720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2708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07" name="Text 36"/>
          <p:cNvSpPr txBox="1"/>
          <p:nvPr/>
        </p:nvSpPr>
        <p:spPr>
          <a:xfrm>
            <a:off x="9267442" y="4150667"/>
            <a:ext cx="22814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Confirm Behavior</a:t>
            </a:r>
          </a:p>
        </p:txBody>
      </p:sp>
      <p:sp>
        <p:nvSpPr>
          <p:cNvPr id="608" name="Text 37"/>
          <p:cNvSpPr txBox="1"/>
          <p:nvPr/>
        </p:nvSpPr>
        <p:spPr>
          <a:xfrm>
            <a:off x="9267442" y="4540925"/>
            <a:ext cx="2281430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Watch values update exactly as expected — or spot the bug</a:t>
            </a:r>
          </a:p>
        </p:txBody>
      </p:sp>
      <p:sp>
        <p:nvSpPr>
          <p:cNvPr id="609" name="Shape 38"/>
          <p:cNvSpPr/>
          <p:nvPr/>
        </p:nvSpPr>
        <p:spPr>
          <a:xfrm>
            <a:off x="502919" y="5349240"/>
            <a:ext cx="11155682" cy="1051562"/>
          </a:xfrm>
          <a:prstGeom prst="roundRect">
            <a:avLst>
              <a:gd name="adj" fmla="val 7826"/>
            </a:avLst>
          </a:prstGeom>
          <a:solidFill>
            <a:srgbClr val="EAF3F6"/>
          </a:solidFill>
          <a:ln w="12700">
            <a:miter lim="400000"/>
          </a:ln>
          <a:effectLst>
            <a:outerShdw sx="100000" sy="100000" kx="0" ky="0" algn="b" rotWithShape="0" blurRad="88900" dist="25400" dir="5400000">
              <a:srgbClr val="1A2333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0" name="Text 39"/>
          <p:cNvSpPr txBox="1"/>
          <p:nvPr/>
        </p:nvSpPr>
        <p:spPr>
          <a:xfrm>
            <a:off x="758950" y="5621720"/>
            <a:ext cx="106436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B3D6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Why Step-by-Step Matters</a:t>
            </a:r>
          </a:p>
        </p:txBody>
      </p:sp>
      <p:sp>
        <p:nvSpPr>
          <p:cNvPr id="611" name="Text 40"/>
          <p:cNvSpPr txBox="1"/>
          <p:nvPr/>
        </p:nvSpPr>
        <p:spPr>
          <a:xfrm>
            <a:off x="758950" y="5952744"/>
            <a:ext cx="106436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77800" indent="-177800">
              <a:spcBef>
                <a:spcPts val="800"/>
              </a:spcBef>
              <a:buSzPct val="100000"/>
              <a:buChar char="•"/>
              <a:defRPr sz="110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Watching previous_term, second_previous_term &amp; current_term update after every next confirms the Fibonacci logic is correct — or reveals exactly where it diverges</a:t>
            </a:r>
          </a:p>
        </p:txBody>
      </p:sp>
      <p:sp>
        <p:nvSpPr>
          <p:cNvPr id="612" name="Text 41"/>
          <p:cNvSpPr txBox="1"/>
          <p:nvPr/>
        </p:nvSpPr>
        <p:spPr>
          <a:xfrm>
            <a:off x="502918" y="6547611"/>
            <a:ext cx="54864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150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DEBUGGING — LLDB II</a:t>
            </a:r>
          </a:p>
        </p:txBody>
      </p:sp>
      <p:sp>
        <p:nvSpPr>
          <p:cNvPr id="613" name="Text 42"/>
          <p:cNvSpPr txBox="1"/>
          <p:nvPr/>
        </p:nvSpPr>
        <p:spPr>
          <a:xfrm>
            <a:off x="11201400" y="6547611"/>
            <a:ext cx="457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
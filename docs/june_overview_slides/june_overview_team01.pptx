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43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364895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35440" y="-1645920"/>
            <a:ext cx="4572000" cy="4572000"/>
          </a:xfrm>
          <a:prstGeom prst="ellipse">
            <a:avLst/>
          </a:prstGeom>
          <a:solidFill>
            <a:srgbClr val="26307A"/>
          </a:solidFill>
          <a:ln/>
        </p:spPr>
      </p:sp>
      <p:sp>
        <p:nvSpPr>
          <p:cNvPr id="3" name="Shape 1"/>
          <p:cNvSpPr/>
          <p:nvPr/>
        </p:nvSpPr>
        <p:spPr>
          <a:xfrm>
            <a:off x="10698480" y="4663440"/>
            <a:ext cx="2926080" cy="2926080"/>
          </a:xfrm>
          <a:prstGeom prst="ellipse">
            <a:avLst/>
          </a:prstGeom>
          <a:solidFill>
            <a:srgbClr val="26307A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0116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PROGRAMMING &amp;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22960" y="251460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Software Engineering Overview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356616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Principles, computer fundamentals, algorithms, the compilation pipeline, and the developer toolchain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4480560"/>
            <a:ext cx="640080" cy="640080"/>
          </a:xfrm>
          <a:prstGeom prst="ellipse">
            <a:avLst/>
          </a:prstGeom>
          <a:solidFill>
            <a:srgbClr val="26307A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9381" y="4646981"/>
            <a:ext cx="307238" cy="30723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1645920" y="4480560"/>
            <a:ext cx="640080" cy="640080"/>
          </a:xfrm>
          <a:prstGeom prst="ellipse">
            <a:avLst/>
          </a:prstGeom>
          <a:solidFill>
            <a:srgbClr val="26307A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2341" y="4646981"/>
            <a:ext cx="307238" cy="307238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2468880" y="4480560"/>
            <a:ext cx="640080" cy="640080"/>
          </a:xfrm>
          <a:prstGeom prst="ellipse">
            <a:avLst/>
          </a:prstGeom>
          <a:solidFill>
            <a:srgbClr val="26307A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35301" y="4646981"/>
            <a:ext cx="307238" cy="307238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3291840" y="4480560"/>
            <a:ext cx="640080" cy="640080"/>
          </a:xfrm>
          <a:prstGeom prst="ellipse">
            <a:avLst/>
          </a:prstGeom>
          <a:solidFill>
            <a:srgbClr val="26307A"/>
          </a:solidFill>
          <a:ln/>
        </p:spPr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58261" y="4646981"/>
            <a:ext cx="307238" cy="30723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Software Principles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— What makes software good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257800" cy="4206240"/>
          </a:xfrm>
          <a:prstGeom prst="roundRect">
            <a:avLst>
              <a:gd name="adj" fmla="val 2609"/>
            </a:avLst>
          </a:prstGeom>
          <a:solidFill>
            <a:srgbClr val="EEF2FB"/>
          </a:solidFill>
          <a:ln/>
          <a:effectLst>
            <a:outerShdw blurRad="101600" dist="38100" dir="2700000" algn="bl" rotWithShape="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0312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226954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2148840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End-User Experience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960120" y="2971800"/>
            <a:ext cx="443484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use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and responsive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software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User-friendly interface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355080" y="1737360"/>
            <a:ext cx="5257800" cy="4206240"/>
          </a:xfrm>
          <a:prstGeom prst="roundRect">
            <a:avLst>
              <a:gd name="adj" fmla="val 2609"/>
            </a:avLst>
          </a:prstGeom>
          <a:solidFill>
            <a:srgbClr val="EEF2FB"/>
          </a:solidFill>
          <a:ln/>
          <a:effectLst>
            <a:outerShdw blurRad="101600" dist="38100" dir="27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720840" y="210312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7261" y="2269541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543800" y="2148840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Meaningful Principles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6766560" y="2971800"/>
            <a:ext cx="443484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readable code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design simple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consistency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 maintainability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Programming &amp; Software Engineering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Software Principles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— Coding discipline and correctness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257800" cy="1965960"/>
          </a:xfrm>
          <a:prstGeom prst="roundRect">
            <a:avLst>
              <a:gd name="adj" fmla="val 4651"/>
            </a:avLst>
          </a:prstGeom>
          <a:solidFill>
            <a:srgbClr val="EEF2FB"/>
          </a:solidFill>
          <a:ln/>
          <a:effectLst>
            <a:outerShdw blurRad="101600" dist="38100" dir="2700000" algn="bl" rotWithShape="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0116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3719" y="2142439"/>
            <a:ext cx="241402" cy="2414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2011680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Coding Style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68680" y="2651760"/>
            <a:ext cx="4617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 indentation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Meaningful variable names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Comments where necessary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355080" y="1737360"/>
            <a:ext cx="5257800" cy="1965960"/>
          </a:xfrm>
          <a:prstGeom prst="roundRect">
            <a:avLst>
              <a:gd name="adj" fmla="val 4651"/>
            </a:avLst>
          </a:prstGeom>
          <a:solidFill>
            <a:srgbClr val="EEF2FB"/>
          </a:solidFill>
          <a:ln/>
          <a:effectLst>
            <a:outerShdw blurRad="101600" dist="38100" dir="27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629400" y="20116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0159" y="2142439"/>
            <a:ext cx="241402" cy="24140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69480" y="2011680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Correctness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675120" y="2651760"/>
            <a:ext cx="4617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expected output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errors gracefully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548640" y="3977640"/>
            <a:ext cx="5257800" cy="1965960"/>
          </a:xfrm>
          <a:prstGeom prst="roundRect">
            <a:avLst>
              <a:gd name="adj" fmla="val 4651"/>
            </a:avLst>
          </a:prstGeom>
          <a:solidFill>
            <a:srgbClr val="EEF2FB"/>
          </a:solidFill>
          <a:ln/>
          <a:effectLst>
            <a:outerShdw blurRad="101600" dist="38100" dir="27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2960" y="42519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3719" y="4382719"/>
            <a:ext cx="241402" cy="24140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63040" y="4251960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Multiple Solutions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68680" y="4892040"/>
            <a:ext cx="4617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problem, many approaches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the efficient solution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6355080" y="3977640"/>
            <a:ext cx="5257800" cy="1965960"/>
          </a:xfrm>
          <a:prstGeom prst="roundRect">
            <a:avLst>
              <a:gd name="adj" fmla="val 4651"/>
            </a:avLst>
          </a:prstGeom>
          <a:solidFill>
            <a:srgbClr val="EEF2FB"/>
          </a:solidFill>
          <a:ln/>
          <a:effectLst>
            <a:outerShdw blurRad="101600" dist="38100" dir="2700000" algn="bl" rotWithShape="0">
              <a:srgbClr val="1E2761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629400" y="42519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60159" y="4382719"/>
            <a:ext cx="241402" cy="24140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269480" y="4251960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Duplication (DRY)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6675120" y="4892040"/>
            <a:ext cx="4617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Repeat Yourself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 functions and modules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Programming &amp; Software Engineering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Fundamentals of a Computer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building blocks behind every program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11480" y="1828800"/>
            <a:ext cx="3566160" cy="2011680"/>
          </a:xfrm>
          <a:prstGeom prst="roundRect">
            <a:avLst>
              <a:gd name="adj" fmla="val 4545"/>
            </a:avLst>
          </a:prstGeom>
          <a:solidFill>
            <a:srgbClr val="EEF2FB"/>
          </a:solidFill>
          <a:ln/>
          <a:effectLst>
            <a:outerShdw blurRad="101600" dist="38100" dir="2700000" algn="bl" rotWithShape="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0" y="210312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8995" y="2293315"/>
            <a:ext cx="351130" cy="35113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4360" y="297180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Unit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4297680" y="1828800"/>
            <a:ext cx="3566160" cy="2011680"/>
          </a:xfrm>
          <a:prstGeom prst="roundRect">
            <a:avLst>
              <a:gd name="adj" fmla="val 4545"/>
            </a:avLst>
          </a:prstGeom>
          <a:solidFill>
            <a:srgbClr val="EEF2FB"/>
          </a:solidFill>
          <a:ln/>
          <a:effectLst>
            <a:outerShdw blurRad="101600" dist="38100" dir="2700000" algn="bl" rotWithShape="0">
              <a:srgbClr val="1E2761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715000" y="210312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5195" y="2293315"/>
            <a:ext cx="351130" cy="35113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480560" y="297180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(Control Unit + ALU)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8183880" y="1828800"/>
            <a:ext cx="3566160" cy="2011680"/>
          </a:xfrm>
          <a:prstGeom prst="roundRect">
            <a:avLst>
              <a:gd name="adj" fmla="val 4545"/>
            </a:avLst>
          </a:prstGeom>
          <a:solidFill>
            <a:srgbClr val="EEF2FB"/>
          </a:solidFill>
          <a:ln/>
          <a:effectLst>
            <a:outerShdw blurRad="101600" dist="38100" dir="27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9601200" y="210312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91395" y="2293315"/>
            <a:ext cx="351130" cy="35113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366760" y="297180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Memory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(RAM)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411480" y="4160520"/>
            <a:ext cx="3566160" cy="2011680"/>
          </a:xfrm>
          <a:prstGeom prst="roundRect">
            <a:avLst>
              <a:gd name="adj" fmla="val 4545"/>
            </a:avLst>
          </a:prstGeom>
          <a:solidFill>
            <a:srgbClr val="EEF2FB"/>
          </a:solidFill>
          <a:ln/>
          <a:effectLst>
            <a:outerShdw blurRad="101600" dist="38100" dir="27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1828800" y="443484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18995" y="4625035"/>
            <a:ext cx="351130" cy="35113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94360" y="530352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Storage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(HDD / SSD)</a:t>
            </a:r>
            <a:endParaRPr lang="en-US" sz="1350" dirty="0"/>
          </a:p>
        </p:txBody>
      </p:sp>
      <p:sp>
        <p:nvSpPr>
          <p:cNvPr id="20" name="Shape 14"/>
          <p:cNvSpPr/>
          <p:nvPr/>
        </p:nvSpPr>
        <p:spPr>
          <a:xfrm>
            <a:off x="4297680" y="4160520"/>
            <a:ext cx="3566160" cy="2011680"/>
          </a:xfrm>
          <a:prstGeom prst="roundRect">
            <a:avLst>
              <a:gd name="adj" fmla="val 4545"/>
            </a:avLst>
          </a:prstGeom>
          <a:solidFill>
            <a:srgbClr val="EEF2FB"/>
          </a:solidFill>
          <a:ln/>
          <a:effectLst>
            <a:outerShdw blurRad="101600" dist="38100" dir="2700000" algn="bl" rotWithShape="0">
              <a:srgbClr val="1E2761">
                <a:alpha val="12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5715000" y="443484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05195" y="4625035"/>
            <a:ext cx="351130" cy="35113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4480560" y="530352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Unit</a:t>
            </a:r>
            <a:endParaRPr lang="en-US" sz="1350" dirty="0"/>
          </a:p>
        </p:txBody>
      </p:sp>
      <p:sp>
        <p:nvSpPr>
          <p:cNvPr id="24" name="Shape 17"/>
          <p:cNvSpPr/>
          <p:nvPr/>
        </p:nvSpPr>
        <p:spPr>
          <a:xfrm>
            <a:off x="8183880" y="4160520"/>
            <a:ext cx="3566160" cy="2011680"/>
          </a:xfrm>
          <a:prstGeom prst="roundRect">
            <a:avLst>
              <a:gd name="adj" fmla="val 4545"/>
            </a:avLst>
          </a:prstGeom>
          <a:solidFill>
            <a:srgbClr val="EEF2FB"/>
          </a:solidFill>
          <a:ln/>
          <a:effectLst>
            <a:outerShdw blurRad="101600" dist="38100" dir="2700000" algn="bl" rotWithShape="0">
              <a:srgbClr val="1E2761">
                <a:alpha val="12000"/>
              </a:srgbClr>
            </a:outerShdw>
          </a:effectLst>
        </p:spPr>
      </p:sp>
      <p:sp>
        <p:nvSpPr>
          <p:cNvPr id="25" name="Shape 18"/>
          <p:cNvSpPr/>
          <p:nvPr/>
        </p:nvSpPr>
        <p:spPr>
          <a:xfrm>
            <a:off x="9601200" y="443484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91395" y="4625035"/>
            <a:ext cx="351130" cy="35113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8366760" y="530352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+ Application</a:t>
            </a:r>
            <a:endParaRPr lang="en-US" sz="1350" dirty="0"/>
          </a:p>
        </p:txBody>
      </p:sp>
      <p:sp>
        <p:nvSpPr>
          <p:cNvPr id="28" name="Text 20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Programming &amp; Software Engineering</a:t>
            </a:r>
            <a:endParaRPr lang="en-US" sz="900" dirty="0"/>
          </a:p>
        </p:txBody>
      </p:sp>
      <p:sp>
        <p:nvSpPr>
          <p:cNvPr id="29" name="Text 21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Do We Need Algorithms?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blueprint before you write a single line of code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257800" cy="1051560"/>
          </a:xfrm>
          <a:prstGeom prst="roundRect">
            <a:avLst>
              <a:gd name="adj" fmla="val 8696"/>
            </a:avLst>
          </a:prstGeom>
          <a:solidFill>
            <a:srgbClr val="EEF2FB"/>
          </a:solidFill>
          <a:ln/>
          <a:effectLst>
            <a:outerShdw blurRad="101600" dist="38100" dir="2700000" algn="bl" rotWithShape="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14884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774" y="2303374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920240"/>
            <a:ext cx="3977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solution to solve problems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548640" y="3246120"/>
            <a:ext cx="5257800" cy="1051560"/>
          </a:xfrm>
          <a:prstGeom prst="roundRect">
            <a:avLst>
              <a:gd name="adj" fmla="val 8696"/>
            </a:avLst>
          </a:prstGeom>
          <a:solidFill>
            <a:srgbClr val="EEF2FB"/>
          </a:solidFill>
          <a:ln/>
          <a:effectLst>
            <a:outerShdw blurRad="101600" dist="38100" dir="2700000" algn="bl" rotWithShape="0">
              <a:srgbClr val="1E2761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77240" y="347472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774" y="3629254"/>
            <a:ext cx="285293" cy="28529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554480" y="3246120"/>
            <a:ext cx="3977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efficiency</a:t>
            </a:r>
            <a:endParaRPr lang="en-US" sz="1550" dirty="0"/>
          </a:p>
        </p:txBody>
      </p:sp>
      <p:sp>
        <p:nvSpPr>
          <p:cNvPr id="12" name="Shape 8"/>
          <p:cNvSpPr/>
          <p:nvPr/>
        </p:nvSpPr>
        <p:spPr>
          <a:xfrm>
            <a:off x="548640" y="4572000"/>
            <a:ext cx="5257800" cy="1051560"/>
          </a:xfrm>
          <a:prstGeom prst="roundRect">
            <a:avLst>
              <a:gd name="adj" fmla="val 8696"/>
            </a:avLst>
          </a:prstGeom>
          <a:solidFill>
            <a:srgbClr val="EEF2FB"/>
          </a:solidFill>
          <a:ln/>
          <a:effectLst>
            <a:outerShdw blurRad="101600" dist="38100" dir="27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777240" y="480060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774" y="4955134"/>
            <a:ext cx="285293" cy="285293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554480" y="4572000"/>
            <a:ext cx="3977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development time</a:t>
            </a:r>
            <a:endParaRPr lang="en-US" sz="1550" dirty="0"/>
          </a:p>
        </p:txBody>
      </p:sp>
      <p:sp>
        <p:nvSpPr>
          <p:cNvPr id="16" name="Shape 11"/>
          <p:cNvSpPr/>
          <p:nvPr/>
        </p:nvSpPr>
        <p:spPr>
          <a:xfrm>
            <a:off x="6355080" y="1920240"/>
            <a:ext cx="5257800" cy="1051560"/>
          </a:xfrm>
          <a:prstGeom prst="roundRect">
            <a:avLst>
              <a:gd name="adj" fmla="val 8696"/>
            </a:avLst>
          </a:prstGeom>
          <a:solidFill>
            <a:srgbClr val="EEF2FB"/>
          </a:solidFill>
          <a:ln/>
          <a:effectLst>
            <a:outerShdw blurRad="101600" dist="38100" dir="27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6583680" y="214884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8214" y="2303374"/>
            <a:ext cx="285293" cy="285293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360920" y="1920240"/>
            <a:ext cx="3977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debugging easier</a:t>
            </a:r>
            <a:endParaRPr lang="en-US" sz="1550" dirty="0"/>
          </a:p>
        </p:txBody>
      </p:sp>
      <p:sp>
        <p:nvSpPr>
          <p:cNvPr id="20" name="Shape 14"/>
          <p:cNvSpPr/>
          <p:nvPr/>
        </p:nvSpPr>
        <p:spPr>
          <a:xfrm>
            <a:off x="6355080" y="3246120"/>
            <a:ext cx="5257800" cy="1051560"/>
          </a:xfrm>
          <a:prstGeom prst="roundRect">
            <a:avLst>
              <a:gd name="adj" fmla="val 8696"/>
            </a:avLst>
          </a:prstGeom>
          <a:solidFill>
            <a:srgbClr val="EEF2FB"/>
          </a:solidFill>
          <a:ln/>
          <a:effectLst>
            <a:outerShdw blurRad="101600" dist="38100" dir="2700000" algn="bl" rotWithShape="0">
              <a:srgbClr val="1E2761">
                <a:alpha val="12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6583680" y="347472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8214" y="3629254"/>
            <a:ext cx="285293" cy="285293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360920" y="3246120"/>
            <a:ext cx="3977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Helps write optimized code</a:t>
            </a:r>
            <a:endParaRPr lang="en-US" sz="1550" dirty="0"/>
          </a:p>
        </p:txBody>
      </p:sp>
      <p:sp>
        <p:nvSpPr>
          <p:cNvPr id="24" name="Shape 17"/>
          <p:cNvSpPr/>
          <p:nvPr/>
        </p:nvSpPr>
        <p:spPr>
          <a:xfrm>
            <a:off x="6355080" y="4572000"/>
            <a:ext cx="5257800" cy="1051560"/>
          </a:xfrm>
          <a:prstGeom prst="roundRect">
            <a:avLst>
              <a:gd name="adj" fmla="val 8696"/>
            </a:avLst>
          </a:prstGeom>
          <a:solidFill>
            <a:srgbClr val="EEF2FB"/>
          </a:solidFill>
          <a:ln/>
          <a:effectLst>
            <a:outerShdw blurRad="101600" dist="38100" dir="2700000" algn="bl" rotWithShape="0">
              <a:srgbClr val="1E2761">
                <a:alpha val="12000"/>
              </a:srgbClr>
            </a:outerShdw>
          </a:effectLst>
        </p:spPr>
      </p:sp>
      <p:sp>
        <p:nvSpPr>
          <p:cNvPr id="25" name="Shape 18"/>
          <p:cNvSpPr/>
          <p:nvPr/>
        </p:nvSpPr>
        <p:spPr>
          <a:xfrm>
            <a:off x="6583680" y="480060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8214" y="4955134"/>
            <a:ext cx="285293" cy="285293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7360920" y="4572000"/>
            <a:ext cx="3977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Acts as a blueprint before coding</a:t>
            </a:r>
            <a:endParaRPr lang="en-US" sz="1550" dirty="0"/>
          </a:p>
        </p:txBody>
      </p:sp>
      <p:sp>
        <p:nvSpPr>
          <p:cNvPr id="28" name="Text 20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Programming &amp; Software Engineering</a:t>
            </a:r>
            <a:endParaRPr lang="en-US" sz="900" dirty="0"/>
          </a:p>
        </p:txBody>
      </p:sp>
      <p:sp>
        <p:nvSpPr>
          <p:cNvPr id="29" name="Text 21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Flowchart Symbols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visual vocabulary of algorithm design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64240" cy="3566160"/>
        </p:xfrm>
        <a:graphic>
          <a:graphicData uri="http://schemas.openxmlformats.org/drawingml/2006/table">
            <a:tbl>
              <a:tblPr/>
              <a:tblGrid>
                <a:gridCol w="3840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20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Symbol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Shape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 / End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Oval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Marks where the flow begins or terminates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Declaration / Process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Rectangle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Represents a processing step or variable declaration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 Input / Print Output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Parallelogram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Represents input or output operations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/ Decision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Diamond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Represents a branching / conditional check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Program Flow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Arrow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Shows the direction of execution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Programming &amp; Software Engineering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A1C79A4-54B4-CC32-816E-F817705B1F8B}"/>
              </a:ext>
            </a:extLst>
          </p:cNvPr>
          <p:cNvSpPr/>
          <p:nvPr/>
        </p:nvSpPr>
        <p:spPr>
          <a:xfrm>
            <a:off x="5443268" y="3114136"/>
            <a:ext cx="905774" cy="3692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Parallelogram 7">
            <a:extLst>
              <a:ext uri="{FF2B5EF4-FFF2-40B4-BE49-F238E27FC236}">
                <a16:creationId xmlns:a16="http://schemas.microsoft.com/office/drawing/2014/main" id="{BE3E4F9D-3EDB-9925-E3F8-280C1048B9EA}"/>
              </a:ext>
            </a:extLst>
          </p:cNvPr>
          <p:cNvSpPr/>
          <p:nvPr/>
        </p:nvSpPr>
        <p:spPr>
          <a:xfrm>
            <a:off x="5633050" y="3743864"/>
            <a:ext cx="793630" cy="274320"/>
          </a:xfrm>
          <a:prstGeom prst="parallelogram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Arrow: Down 8">
            <a:extLst>
              <a:ext uri="{FF2B5EF4-FFF2-40B4-BE49-F238E27FC236}">
                <a16:creationId xmlns:a16="http://schemas.microsoft.com/office/drawing/2014/main" id="{D306F83D-A208-E477-8C7F-35D6EAFD3C2E}"/>
              </a:ext>
            </a:extLst>
          </p:cNvPr>
          <p:cNvSpPr/>
          <p:nvPr/>
        </p:nvSpPr>
        <p:spPr>
          <a:xfrm>
            <a:off x="5710687" y="4951562"/>
            <a:ext cx="385313" cy="44339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 Basic Syntax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of the smallest working C program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486400" cy="2743200"/>
          </a:xfrm>
          <a:prstGeom prst="roundRect">
            <a:avLst>
              <a:gd name="adj" fmla="val 2667"/>
            </a:avLst>
          </a:prstGeom>
          <a:solidFill>
            <a:srgbClr val="1B1F3B"/>
          </a:solidFill>
          <a:ln/>
          <a:effectLst>
            <a:outerShdw blurRad="101600" dist="38100" dir="2700000" algn="bl" rotWithShape="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057400"/>
            <a:ext cx="146304" cy="146304"/>
          </a:xfrm>
          <a:prstGeom prst="ellipse">
            <a:avLst/>
          </a:prstGeom>
          <a:solidFill>
            <a:srgbClr val="E15A4C"/>
          </a:solidFill>
          <a:ln/>
        </p:spPr>
      </p:sp>
      <p:sp>
        <p:nvSpPr>
          <p:cNvPr id="6" name="Shape 4"/>
          <p:cNvSpPr/>
          <p:nvPr/>
        </p:nvSpPr>
        <p:spPr>
          <a:xfrm>
            <a:off x="1097280" y="2057400"/>
            <a:ext cx="146304" cy="146304"/>
          </a:xfrm>
          <a:prstGeom prst="ellipse">
            <a:avLst/>
          </a:prstGeom>
          <a:solidFill>
            <a:srgbClr val="E8B84B"/>
          </a:solidFill>
          <a:ln/>
        </p:spPr>
      </p:sp>
      <p:sp>
        <p:nvSpPr>
          <p:cNvPr id="7" name="Shape 5"/>
          <p:cNvSpPr/>
          <p:nvPr/>
        </p:nvSpPr>
        <p:spPr>
          <a:xfrm>
            <a:off x="1371600" y="2057400"/>
            <a:ext cx="146304" cy="146304"/>
          </a:xfrm>
          <a:prstGeom prst="ellipse">
            <a:avLst/>
          </a:prstGeom>
          <a:solidFill>
            <a:srgbClr val="58B368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377440"/>
            <a:ext cx="4846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&lt;stdio.h&gt;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main()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printf("Hello World");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0;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92240" y="1920240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 Files</a:t>
            </a:r>
            <a:endParaRPr lang="en-US" sz="16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Function</a:t>
            </a:r>
            <a:endParaRPr lang="en-US" sz="16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Statements end with a semicolon ( ; )</a:t>
            </a:r>
            <a:endParaRPr lang="en-US" sz="16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Curly braces define blocks</a:t>
            </a:r>
            <a:endParaRPr lang="en-US" sz="16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0 indicates successful execution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Programming &amp; Software Engineering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Compilation Process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source file to executable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1920240" cy="822960"/>
          </a:xfrm>
          <a:prstGeom prst="roundRect">
            <a:avLst>
              <a:gd name="adj" fmla="val 11111"/>
            </a:avLst>
          </a:prstGeom>
          <a:solidFill>
            <a:srgbClr val="EEF2FB"/>
          </a:solidFill>
          <a:ln/>
          <a:effectLst>
            <a:outerShdw blurRad="101600" dist="38100" dir="2700000" algn="bl" rotWithShape="0">
              <a:srgbClr val="1E2761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210312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filename.c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514600" y="2404872"/>
            <a:ext cx="274320" cy="219456"/>
          </a:xfrm>
          <a:prstGeom prst="rightArrow">
            <a:avLst/>
          </a:prstGeom>
          <a:solidFill>
            <a:srgbClr val="5B6785"/>
          </a:solidFill>
          <a:ln/>
        </p:spPr>
      </p:sp>
      <p:sp>
        <p:nvSpPr>
          <p:cNvPr id="7" name="Text 5"/>
          <p:cNvSpPr/>
          <p:nvPr/>
        </p:nvSpPr>
        <p:spPr>
          <a:xfrm>
            <a:off x="2331720" y="30175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Preprocessor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834640" y="2103120"/>
            <a:ext cx="1920240" cy="822960"/>
          </a:xfrm>
          <a:prstGeom prst="roundRect">
            <a:avLst>
              <a:gd name="adj" fmla="val 11111"/>
            </a:avLst>
          </a:prstGeom>
          <a:solidFill>
            <a:srgbClr val="EEF2FB"/>
          </a:solidFill>
          <a:ln/>
          <a:effectLst>
            <a:outerShdw blurRad="101600" dist="38100" dir="2700000" algn="bl" rotWithShape="0">
              <a:srgbClr val="1E2761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834640" y="210312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filename.i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800600" y="2404872"/>
            <a:ext cx="274320" cy="219456"/>
          </a:xfrm>
          <a:prstGeom prst="rightArrow">
            <a:avLst/>
          </a:prstGeom>
          <a:solidFill>
            <a:srgbClr val="5B6785"/>
          </a:solidFill>
          <a:ln/>
        </p:spPr>
      </p:sp>
      <p:sp>
        <p:nvSpPr>
          <p:cNvPr id="11" name="Text 9"/>
          <p:cNvSpPr/>
          <p:nvPr/>
        </p:nvSpPr>
        <p:spPr>
          <a:xfrm>
            <a:off x="4617720" y="30175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120640" y="2103120"/>
            <a:ext cx="1920240" cy="822960"/>
          </a:xfrm>
          <a:prstGeom prst="roundRect">
            <a:avLst>
              <a:gd name="adj" fmla="val 11111"/>
            </a:avLst>
          </a:prstGeom>
          <a:solidFill>
            <a:srgbClr val="EEF2FB"/>
          </a:solidFill>
          <a:ln/>
          <a:effectLst>
            <a:outerShdw blurRad="101600" dist="38100" dir="27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120640" y="210312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filename.s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086600" y="2404872"/>
            <a:ext cx="274320" cy="219456"/>
          </a:xfrm>
          <a:prstGeom prst="rightArrow">
            <a:avLst/>
          </a:prstGeom>
          <a:solidFill>
            <a:srgbClr val="5B6785"/>
          </a:solidFill>
          <a:ln/>
        </p:spPr>
      </p:sp>
      <p:sp>
        <p:nvSpPr>
          <p:cNvPr id="15" name="Text 13"/>
          <p:cNvSpPr/>
          <p:nvPr/>
        </p:nvSpPr>
        <p:spPr>
          <a:xfrm>
            <a:off x="6903720" y="30175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Assembler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406640" y="2103120"/>
            <a:ext cx="1920240" cy="822960"/>
          </a:xfrm>
          <a:prstGeom prst="roundRect">
            <a:avLst>
              <a:gd name="adj" fmla="val 11111"/>
            </a:avLst>
          </a:prstGeom>
          <a:solidFill>
            <a:srgbClr val="EEF2FB"/>
          </a:solidFill>
          <a:ln/>
          <a:effectLst>
            <a:outerShdw blurRad="101600" dist="38100" dir="27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406640" y="210312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filename.o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372600" y="2404872"/>
            <a:ext cx="274320" cy="219456"/>
          </a:xfrm>
          <a:prstGeom prst="rightArrow">
            <a:avLst/>
          </a:prstGeom>
          <a:solidFill>
            <a:srgbClr val="5B6785"/>
          </a:solidFill>
          <a:ln/>
        </p:spPr>
      </p:sp>
      <p:sp>
        <p:nvSpPr>
          <p:cNvPr id="19" name="Text 17"/>
          <p:cNvSpPr/>
          <p:nvPr/>
        </p:nvSpPr>
        <p:spPr>
          <a:xfrm>
            <a:off x="9189720" y="30175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Linker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692640" y="2103120"/>
            <a:ext cx="1920240" cy="822960"/>
          </a:xfrm>
          <a:prstGeom prst="roundRect">
            <a:avLst>
              <a:gd name="adj" fmla="val 11111"/>
            </a:avLst>
          </a:prstGeom>
          <a:solidFill>
            <a:srgbClr val="1E2761"/>
          </a:solidFill>
          <a:ln/>
          <a:effectLst>
            <a:outerShdw blurRad="101600" dist="38100" dir="2700000" algn="bl" rotWithShape="0">
              <a:srgbClr val="1E2761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692640" y="210312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filename.exe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48640" y="374904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1B1F3B"/>
          </a:solidFill>
          <a:ln/>
          <a:effectLst>
            <a:outerShdw blurRad="101600" dist="38100" dir="2700000" algn="bl" rotWithShape="0">
              <a:srgbClr val="1E2761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22960" y="374904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9E7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clang --save-temps filename.c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48640" y="47091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command saves all intermediate compilation files (.i, .s, .o) so you can inspect every stage of the pipeline.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Programming &amp; Software Engineering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Absolute Path vs Relative Path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ways to point to the same file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257800" cy="3931920"/>
          </a:xfrm>
          <a:prstGeom prst="roundRect">
            <a:avLst>
              <a:gd name="adj" fmla="val 2791"/>
            </a:avLst>
          </a:prstGeom>
          <a:solidFill>
            <a:srgbClr val="EEF2FB"/>
          </a:solidFill>
          <a:ln/>
          <a:effectLst>
            <a:outerShdw blurRad="101600" dist="38100" dir="2700000" algn="bl" rotWithShape="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945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236098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2240280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Absolute Path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914400" y="3200400"/>
            <a:ext cx="452628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/>
        </p:spPr>
      </p:sp>
      <p:sp>
        <p:nvSpPr>
          <p:cNvPr id="9" name="Text 6"/>
          <p:cNvSpPr/>
          <p:nvPr/>
        </p:nvSpPr>
        <p:spPr>
          <a:xfrm>
            <a:off x="1051560" y="3200400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/home/user/project/main.c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914400" y="3977640"/>
            <a:ext cx="452628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/>
        </p:spPr>
      </p:sp>
      <p:sp>
        <p:nvSpPr>
          <p:cNvPr id="11" name="Text 8"/>
          <p:cNvSpPr/>
          <p:nvPr/>
        </p:nvSpPr>
        <p:spPr>
          <a:xfrm>
            <a:off x="1051560" y="3977640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 from Root ( / )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914400" y="4754880"/>
            <a:ext cx="452628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/>
        </p:spPr>
      </p:sp>
      <p:sp>
        <p:nvSpPr>
          <p:cNvPr id="13" name="Text 10"/>
          <p:cNvSpPr/>
          <p:nvPr/>
        </p:nvSpPr>
        <p:spPr>
          <a:xfrm>
            <a:off x="1051560" y="4754880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from anywhere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355080" y="1828800"/>
            <a:ext cx="5257800" cy="3931920"/>
          </a:xfrm>
          <a:prstGeom prst="roundRect">
            <a:avLst>
              <a:gd name="adj" fmla="val 2791"/>
            </a:avLst>
          </a:prstGeom>
          <a:solidFill>
            <a:srgbClr val="EEF2FB"/>
          </a:solidFill>
          <a:ln/>
          <a:effectLst>
            <a:outerShdw blurRad="101600" dist="38100" dir="27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720840" y="21945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7261" y="2360981"/>
            <a:ext cx="307238" cy="30723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543800" y="2240280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Relative Path</a:t>
            </a:r>
            <a:endParaRPr lang="en-US" sz="1900" dirty="0"/>
          </a:p>
        </p:txBody>
      </p:sp>
      <p:sp>
        <p:nvSpPr>
          <p:cNvPr id="18" name="Shape 14"/>
          <p:cNvSpPr/>
          <p:nvPr/>
        </p:nvSpPr>
        <p:spPr>
          <a:xfrm>
            <a:off x="6720840" y="3200400"/>
            <a:ext cx="452628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/>
        </p:spPr>
      </p:sp>
      <p:sp>
        <p:nvSpPr>
          <p:cNvPr id="19" name="Text 15"/>
          <p:cNvSpPr/>
          <p:nvPr/>
        </p:nvSpPr>
        <p:spPr>
          <a:xfrm>
            <a:off x="6858000" y="3200400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src/main.c</a:t>
            </a:r>
            <a:endParaRPr lang="en-US" sz="1350" dirty="0"/>
          </a:p>
        </p:txBody>
      </p:sp>
      <p:sp>
        <p:nvSpPr>
          <p:cNvPr id="20" name="Shape 16"/>
          <p:cNvSpPr/>
          <p:nvPr/>
        </p:nvSpPr>
        <p:spPr>
          <a:xfrm>
            <a:off x="6720840" y="3977640"/>
            <a:ext cx="452628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/>
        </p:spPr>
      </p:sp>
      <p:sp>
        <p:nvSpPr>
          <p:cNvPr id="21" name="Text 17"/>
          <p:cNvSpPr/>
          <p:nvPr/>
        </p:nvSpPr>
        <p:spPr>
          <a:xfrm>
            <a:off x="6858000" y="3977640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 from Current Directory</a:t>
            </a:r>
            <a:endParaRPr lang="en-US" sz="1400" dirty="0"/>
          </a:p>
        </p:txBody>
      </p:sp>
      <p:sp>
        <p:nvSpPr>
          <p:cNvPr id="22" name="Shape 18"/>
          <p:cNvSpPr/>
          <p:nvPr/>
        </p:nvSpPr>
        <p:spPr>
          <a:xfrm>
            <a:off x="6720840" y="4754880"/>
            <a:ext cx="452628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/>
        </p:spPr>
      </p:sp>
      <p:sp>
        <p:nvSpPr>
          <p:cNvPr id="23" name="Text 19"/>
          <p:cNvSpPr/>
          <p:nvPr/>
        </p:nvSpPr>
        <p:spPr>
          <a:xfrm>
            <a:off x="6858000" y="4754880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Depends on current location</a:t>
            </a:r>
            <a:endParaRPr lang="en-US" sz="1400" dirty="0"/>
          </a:p>
        </p:txBody>
      </p:sp>
      <p:sp>
        <p:nvSpPr>
          <p:cNvPr id="24" name="Text 20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Programming &amp; Software Engineering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Basic Linux Commands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commands you'll type most often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11480" y="1874520"/>
            <a:ext cx="3566160" cy="1143000"/>
          </a:xfrm>
          <a:prstGeom prst="roundRect">
            <a:avLst>
              <a:gd name="adj" fmla="val 8000"/>
            </a:avLst>
          </a:prstGeom>
          <a:solidFill>
            <a:srgbClr val="EEF2FB"/>
          </a:solidFill>
          <a:ln/>
          <a:effectLst>
            <a:outerShdw blurRad="101600" dist="38100" dir="2700000" algn="bl" rotWithShape="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2103120"/>
            <a:ext cx="1188720" cy="6858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103120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pwd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965960" y="210312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Directory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297680" y="1874520"/>
            <a:ext cx="3566160" cy="1143000"/>
          </a:xfrm>
          <a:prstGeom prst="roundRect">
            <a:avLst>
              <a:gd name="adj" fmla="val 8000"/>
            </a:avLst>
          </a:prstGeom>
          <a:solidFill>
            <a:srgbClr val="EEF2FB"/>
          </a:solidFill>
          <a:ln/>
          <a:effectLst>
            <a:outerShdw blurRad="101600" dist="38100" dir="2700000" algn="bl" rotWithShape="0">
              <a:srgbClr val="1E2761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26280" y="2103120"/>
            <a:ext cx="1188720" cy="6858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4526280" y="2103120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852160" y="210312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Files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183880" y="1874520"/>
            <a:ext cx="3566160" cy="1143000"/>
          </a:xfrm>
          <a:prstGeom prst="roundRect">
            <a:avLst>
              <a:gd name="adj" fmla="val 8000"/>
            </a:avLst>
          </a:prstGeom>
          <a:solidFill>
            <a:srgbClr val="EEF2FB"/>
          </a:solidFill>
          <a:ln/>
          <a:effectLst>
            <a:outerShdw blurRad="101600" dist="38100" dir="27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412480" y="2103120"/>
            <a:ext cx="1188720" cy="6858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8412480" y="2103120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738360" y="210312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Directory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11480" y="3291840"/>
            <a:ext cx="3566160" cy="1143000"/>
          </a:xfrm>
          <a:prstGeom prst="roundRect">
            <a:avLst>
              <a:gd name="adj" fmla="val 8000"/>
            </a:avLst>
          </a:prstGeom>
          <a:solidFill>
            <a:srgbClr val="EEF2FB"/>
          </a:solidFill>
          <a:ln/>
          <a:effectLst>
            <a:outerShdw blurRad="101600" dist="38100" dir="27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" y="3520440"/>
            <a:ext cx="1188720" cy="6858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520440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mkdir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965960" y="352044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Folder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4297680" y="3291840"/>
            <a:ext cx="3566160" cy="1143000"/>
          </a:xfrm>
          <a:prstGeom prst="roundRect">
            <a:avLst>
              <a:gd name="adj" fmla="val 8000"/>
            </a:avLst>
          </a:prstGeom>
          <a:solidFill>
            <a:srgbClr val="EEF2FB"/>
          </a:solidFill>
          <a:ln/>
          <a:effectLst>
            <a:outerShdw blurRad="101600" dist="38100" dir="2700000" algn="bl" rotWithShape="0">
              <a:srgbClr val="1E2761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26280" y="3520440"/>
            <a:ext cx="1188720" cy="6858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4526280" y="3520440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rm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852160" y="352044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File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8183880" y="3291840"/>
            <a:ext cx="3566160" cy="1143000"/>
          </a:xfrm>
          <a:prstGeom prst="roundRect">
            <a:avLst>
              <a:gd name="adj" fmla="val 8000"/>
            </a:avLst>
          </a:prstGeom>
          <a:solidFill>
            <a:srgbClr val="EEF2FB"/>
          </a:solidFill>
          <a:ln/>
          <a:effectLst>
            <a:outerShdw blurRad="101600" dist="38100" dir="2700000" algn="bl" rotWithShape="0">
              <a:srgbClr val="1E2761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412480" y="3520440"/>
            <a:ext cx="1188720" cy="6858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8412480" y="3520440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738360" y="352044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Files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411480" y="4709160"/>
            <a:ext cx="3566160" cy="1143000"/>
          </a:xfrm>
          <a:prstGeom prst="roundRect">
            <a:avLst>
              <a:gd name="adj" fmla="val 8000"/>
            </a:avLst>
          </a:prstGeom>
          <a:solidFill>
            <a:srgbClr val="EEF2FB"/>
          </a:solidFill>
          <a:ln/>
          <a:effectLst>
            <a:outerShdw blurRad="101600" dist="38100" dir="2700000" algn="bl" rotWithShape="0">
              <a:srgbClr val="1E2761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40080" y="4937760"/>
            <a:ext cx="1188720" cy="6858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" y="4937760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mv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965960" y="493776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/ Rename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4297680" y="4709160"/>
            <a:ext cx="3566160" cy="1143000"/>
          </a:xfrm>
          <a:prstGeom prst="roundRect">
            <a:avLst>
              <a:gd name="adj" fmla="val 8000"/>
            </a:avLst>
          </a:prstGeom>
          <a:solidFill>
            <a:srgbClr val="EEF2FB"/>
          </a:solidFill>
          <a:ln/>
          <a:effectLst>
            <a:outerShdw blurRad="101600" dist="38100" dir="2700000" algn="bl" rotWithShape="0">
              <a:srgbClr val="1E2761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526280" y="4937760"/>
            <a:ext cx="1188720" cy="6858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</p:spPr>
      </p:sp>
      <p:sp>
        <p:nvSpPr>
          <p:cNvPr id="34" name="Text 32"/>
          <p:cNvSpPr/>
          <p:nvPr/>
        </p:nvSpPr>
        <p:spPr>
          <a:xfrm>
            <a:off x="4526280" y="4937760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5852160" y="493776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File</a:t>
            </a:r>
            <a:endParaRPr lang="en-US" sz="1350" dirty="0"/>
          </a:p>
        </p:txBody>
      </p:sp>
      <p:sp>
        <p:nvSpPr>
          <p:cNvPr id="36" name="Shape 34"/>
          <p:cNvSpPr/>
          <p:nvPr/>
        </p:nvSpPr>
        <p:spPr>
          <a:xfrm>
            <a:off x="8183880" y="4709160"/>
            <a:ext cx="3566160" cy="1143000"/>
          </a:xfrm>
          <a:prstGeom prst="roundRect">
            <a:avLst>
              <a:gd name="adj" fmla="val 8000"/>
            </a:avLst>
          </a:prstGeom>
          <a:solidFill>
            <a:srgbClr val="EEF2FB"/>
          </a:solidFill>
          <a:ln/>
          <a:effectLst>
            <a:outerShdw blurRad="101600" dist="38100" dir="2700000" algn="bl" rotWithShape="0">
              <a:srgbClr val="1E2761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8412480" y="4937760"/>
            <a:ext cx="1188720" cy="6858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</p:spPr>
      </p:sp>
      <p:sp>
        <p:nvSpPr>
          <p:cNvPr id="38" name="Text 36"/>
          <p:cNvSpPr/>
          <p:nvPr/>
        </p:nvSpPr>
        <p:spPr>
          <a:xfrm>
            <a:off x="8412480" y="4937760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clear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9738360" y="493776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Terminal</a:t>
            </a:r>
            <a:endParaRPr lang="en-US" sz="1350" dirty="0"/>
          </a:p>
        </p:txBody>
      </p:sp>
      <p:sp>
        <p:nvSpPr>
          <p:cNvPr id="40" name="Text 38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Programming &amp; Software Engineering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Basic Linux Commands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few more you'll reach for often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11480" y="1874520"/>
            <a:ext cx="3566160" cy="1143000"/>
          </a:xfrm>
          <a:prstGeom prst="roundRect">
            <a:avLst>
              <a:gd name="adj" fmla="val 8000"/>
            </a:avLst>
          </a:prstGeom>
          <a:solidFill>
            <a:srgbClr val="EEF2FB"/>
          </a:solidFill>
          <a:ln/>
          <a:effectLst>
            <a:outerShdw blurRad="101600" dist="38100" dir="2700000" algn="bl" rotWithShape="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2103120"/>
            <a:ext cx="1188720" cy="6858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103120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touch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965960" y="210312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an empty file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297680" y="1874520"/>
            <a:ext cx="3566160" cy="1143000"/>
          </a:xfrm>
          <a:prstGeom prst="roundRect">
            <a:avLst>
              <a:gd name="adj" fmla="val 8000"/>
            </a:avLst>
          </a:prstGeom>
          <a:solidFill>
            <a:srgbClr val="EEF2FB"/>
          </a:solidFill>
          <a:ln/>
          <a:effectLst>
            <a:outerShdw blurRad="101600" dist="38100" dir="2700000" algn="bl" rotWithShape="0">
              <a:srgbClr val="1E2761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26280" y="2103120"/>
            <a:ext cx="1188720" cy="6858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4526280" y="2103120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chmod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5852160" y="210312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file permissions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183880" y="1874520"/>
            <a:ext cx="3566160" cy="1143000"/>
          </a:xfrm>
          <a:prstGeom prst="roundRect">
            <a:avLst>
              <a:gd name="adj" fmla="val 8000"/>
            </a:avLst>
          </a:prstGeom>
          <a:solidFill>
            <a:srgbClr val="EEF2FB"/>
          </a:solidFill>
          <a:ln/>
          <a:effectLst>
            <a:outerShdw blurRad="101600" dist="38100" dir="27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412480" y="2103120"/>
            <a:ext cx="1188720" cy="6858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8412480" y="2103120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chown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9738360" y="210312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file owner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11480" y="3291840"/>
            <a:ext cx="3566160" cy="1143000"/>
          </a:xfrm>
          <a:prstGeom prst="roundRect">
            <a:avLst>
              <a:gd name="adj" fmla="val 8000"/>
            </a:avLst>
          </a:prstGeom>
          <a:solidFill>
            <a:srgbClr val="EEF2FB"/>
          </a:solidFill>
          <a:ln/>
          <a:effectLst>
            <a:outerShdw blurRad="101600" dist="38100" dir="27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" y="3520440"/>
            <a:ext cx="1188720" cy="6858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520440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grep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1965960" y="352044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text patterns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4297680" y="3291840"/>
            <a:ext cx="3566160" cy="1143000"/>
          </a:xfrm>
          <a:prstGeom prst="roundRect">
            <a:avLst>
              <a:gd name="adj" fmla="val 8000"/>
            </a:avLst>
          </a:prstGeom>
          <a:solidFill>
            <a:srgbClr val="EEF2FB"/>
          </a:solidFill>
          <a:ln/>
          <a:effectLst>
            <a:outerShdw blurRad="101600" dist="38100" dir="2700000" algn="bl" rotWithShape="0">
              <a:srgbClr val="1E2761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26280" y="3520440"/>
            <a:ext cx="1188720" cy="6858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4526280" y="3520440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5852160" y="352044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for files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8183880" y="3291840"/>
            <a:ext cx="3566160" cy="1143000"/>
          </a:xfrm>
          <a:prstGeom prst="roundRect">
            <a:avLst>
              <a:gd name="adj" fmla="val 8000"/>
            </a:avLst>
          </a:prstGeom>
          <a:solidFill>
            <a:srgbClr val="EEF2FB"/>
          </a:solidFill>
          <a:ln/>
          <a:effectLst>
            <a:outerShdw blurRad="101600" dist="38100" dir="2700000" algn="bl" rotWithShape="0">
              <a:srgbClr val="1E2761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412480" y="3520440"/>
            <a:ext cx="1188720" cy="6858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8412480" y="3520440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9738360" y="352044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command manual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411480" y="4709160"/>
            <a:ext cx="3566160" cy="1143000"/>
          </a:xfrm>
          <a:prstGeom prst="roundRect">
            <a:avLst>
              <a:gd name="adj" fmla="val 8000"/>
            </a:avLst>
          </a:prstGeom>
          <a:solidFill>
            <a:srgbClr val="EEF2FB"/>
          </a:solidFill>
          <a:ln/>
          <a:effectLst>
            <a:outerShdw blurRad="101600" dist="38100" dir="2700000" algn="bl" rotWithShape="0">
              <a:srgbClr val="1E2761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40080" y="4937760"/>
            <a:ext cx="1188720" cy="6858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" y="4937760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1965960" y="493776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running processes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4297680" y="4709160"/>
            <a:ext cx="3566160" cy="1143000"/>
          </a:xfrm>
          <a:prstGeom prst="roundRect">
            <a:avLst>
              <a:gd name="adj" fmla="val 8000"/>
            </a:avLst>
          </a:prstGeom>
          <a:solidFill>
            <a:srgbClr val="EEF2FB"/>
          </a:solidFill>
          <a:ln/>
          <a:effectLst>
            <a:outerShdw blurRad="101600" dist="38100" dir="2700000" algn="bl" rotWithShape="0">
              <a:srgbClr val="1E2761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526280" y="4937760"/>
            <a:ext cx="1188720" cy="6858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</p:spPr>
      </p:sp>
      <p:sp>
        <p:nvSpPr>
          <p:cNvPr id="34" name="Text 32"/>
          <p:cNvSpPr/>
          <p:nvPr/>
        </p:nvSpPr>
        <p:spPr>
          <a:xfrm>
            <a:off x="4526280" y="4937760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kill</a:t>
            </a:r>
            <a:endParaRPr lang="en-US" sz="1450" dirty="0"/>
          </a:p>
        </p:txBody>
      </p:sp>
      <p:sp>
        <p:nvSpPr>
          <p:cNvPr id="35" name="Text 33"/>
          <p:cNvSpPr/>
          <p:nvPr/>
        </p:nvSpPr>
        <p:spPr>
          <a:xfrm>
            <a:off x="5852160" y="493776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Terminate a process</a:t>
            </a:r>
            <a:endParaRPr lang="en-US" sz="1350" dirty="0"/>
          </a:p>
        </p:txBody>
      </p:sp>
      <p:sp>
        <p:nvSpPr>
          <p:cNvPr id="36" name="Shape 34"/>
          <p:cNvSpPr/>
          <p:nvPr/>
        </p:nvSpPr>
        <p:spPr>
          <a:xfrm>
            <a:off x="8183880" y="4709160"/>
            <a:ext cx="3566160" cy="1143000"/>
          </a:xfrm>
          <a:prstGeom prst="roundRect">
            <a:avLst>
              <a:gd name="adj" fmla="val 8000"/>
            </a:avLst>
          </a:prstGeom>
          <a:solidFill>
            <a:srgbClr val="EEF2FB"/>
          </a:solidFill>
          <a:ln/>
          <a:effectLst>
            <a:outerShdw blurRad="101600" dist="38100" dir="2700000" algn="bl" rotWithShape="0">
              <a:srgbClr val="1E2761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8412480" y="4937760"/>
            <a:ext cx="1188720" cy="6858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</p:spPr>
      </p:sp>
      <p:sp>
        <p:nvSpPr>
          <p:cNvPr id="38" name="Text 36"/>
          <p:cNvSpPr/>
          <p:nvPr/>
        </p:nvSpPr>
        <p:spPr>
          <a:xfrm>
            <a:off x="8412480" y="4937760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history</a:t>
            </a:r>
            <a:endParaRPr lang="en-US" sz="1450" dirty="0"/>
          </a:p>
        </p:txBody>
      </p:sp>
      <p:sp>
        <p:nvSpPr>
          <p:cNvPr id="39" name="Text 37"/>
          <p:cNvSpPr/>
          <p:nvPr/>
        </p:nvSpPr>
        <p:spPr>
          <a:xfrm>
            <a:off x="9738360" y="493776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command history</a:t>
            </a:r>
            <a:endParaRPr lang="en-US" sz="1350" dirty="0"/>
          </a:p>
        </p:txBody>
      </p:sp>
      <p:sp>
        <p:nvSpPr>
          <p:cNvPr id="40" name="Text 38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Programming &amp; Software Engineering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 vs GitHub vs Git Bash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names that are easy to mix up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1828800"/>
            <a:ext cx="3383280" cy="4023360"/>
          </a:xfrm>
          <a:prstGeom prst="roundRect">
            <a:avLst>
              <a:gd name="adj" fmla="val 3243"/>
            </a:avLst>
          </a:prstGeom>
          <a:solidFill>
            <a:srgbClr val="EEF2FB"/>
          </a:solidFill>
          <a:ln/>
          <a:effectLst>
            <a:outerShdw blurRad="101600" dist="38100" dir="2700000" algn="bl" rotWithShape="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034540" y="214884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2848" y="232714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29718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005840" y="3611880"/>
            <a:ext cx="2743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 Tool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Code Changes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Offline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389120" y="1828800"/>
            <a:ext cx="3383280" cy="4023360"/>
          </a:xfrm>
          <a:prstGeom prst="roundRect">
            <a:avLst>
              <a:gd name="adj" fmla="val 3243"/>
            </a:avLst>
          </a:prstGeom>
          <a:solidFill>
            <a:srgbClr val="EEF2FB"/>
          </a:solidFill>
          <a:ln/>
          <a:effectLst>
            <a:outerShdw blurRad="101600" dist="38100" dir="27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737860" y="214884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6168" y="2327148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389120" y="29718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4709160" y="3611880"/>
            <a:ext cx="2743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Repository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Git Projects Online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Internet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8092440" y="1828800"/>
            <a:ext cx="3383280" cy="4023360"/>
          </a:xfrm>
          <a:prstGeom prst="roundRect">
            <a:avLst>
              <a:gd name="adj" fmla="val 3243"/>
            </a:avLst>
          </a:prstGeom>
          <a:solidFill>
            <a:srgbClr val="EEF2FB"/>
          </a:solidFill>
          <a:ln/>
          <a:effectLst>
            <a:outerShdw blurRad="101600" dist="38100" dir="27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441180" y="214884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19488" y="2327148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092440" y="29718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 Bash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8412480" y="3611880"/>
            <a:ext cx="2743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Line Interface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Git Commands on Windows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Environment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Programming &amp; Software Engineering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Basic Git Commands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everyday Git vocabulary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627632"/>
            <a:ext cx="11064240" cy="4206240"/>
          </a:xfrm>
          <a:prstGeom prst="roundRect">
            <a:avLst>
              <a:gd name="adj" fmla="val 1739"/>
            </a:avLst>
          </a:prstGeom>
          <a:solidFill>
            <a:srgbClr val="1B1F3B"/>
          </a:solidFill>
          <a:ln/>
          <a:effectLst>
            <a:outerShdw blurRad="101600" dist="38100" dir="2700000" algn="bl" rotWithShape="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84248"/>
            <a:ext cx="137160" cy="137160"/>
          </a:xfrm>
          <a:prstGeom prst="ellipse">
            <a:avLst/>
          </a:prstGeom>
          <a:solidFill>
            <a:srgbClr val="E15A4C"/>
          </a:solidFill>
          <a:ln/>
        </p:spPr>
      </p:sp>
      <p:sp>
        <p:nvSpPr>
          <p:cNvPr id="6" name="Shape 4"/>
          <p:cNvSpPr/>
          <p:nvPr/>
        </p:nvSpPr>
        <p:spPr>
          <a:xfrm>
            <a:off x="1097280" y="1984248"/>
            <a:ext cx="137160" cy="137160"/>
          </a:xfrm>
          <a:prstGeom prst="ellipse">
            <a:avLst/>
          </a:prstGeom>
          <a:solidFill>
            <a:srgbClr val="E8B84B"/>
          </a:solidFill>
          <a:ln/>
        </p:spPr>
      </p:sp>
      <p:sp>
        <p:nvSpPr>
          <p:cNvPr id="7" name="Shape 5"/>
          <p:cNvSpPr/>
          <p:nvPr/>
        </p:nvSpPr>
        <p:spPr>
          <a:xfrm>
            <a:off x="1371600" y="1984248"/>
            <a:ext cx="137160" cy="137160"/>
          </a:xfrm>
          <a:prstGeom prst="ellipse">
            <a:avLst/>
          </a:prstGeom>
          <a:solidFill>
            <a:srgbClr val="58B368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788920"/>
            <a:ext cx="498348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9E7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init  </a:t>
            </a:r>
            <a:r>
              <a:rPr lang="en-US" sz="13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Start tracking a project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914400" y="2862072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914400" y="3346704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9E7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status  </a:t>
            </a:r>
            <a:r>
              <a:rPr lang="en-US" sz="13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Show current changes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914400" y="3831336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9E7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 .  </a:t>
            </a:r>
            <a:r>
              <a:rPr lang="en-US" sz="13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Stage changes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914400" y="4315968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9E7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 -m "msg"  </a:t>
            </a:r>
            <a:r>
              <a:rPr lang="en-US" sz="13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Save a snapshot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914400" y="4800600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080760" y="2377440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080760" y="2862072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080760" y="3346704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080760" y="3831336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080760" y="4315968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Programming &amp; Software Engineering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Debugging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and fixing errors systematically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1947672"/>
            <a:ext cx="219456" cy="219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18288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and fix program errors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548640" y="248716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2606040"/>
            <a:ext cx="219456" cy="2194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88720" y="248716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breakpoints</a:t>
            </a:r>
            <a:endParaRPr lang="en-US" sz="1550" dirty="0"/>
          </a:p>
        </p:txBody>
      </p:sp>
      <p:sp>
        <p:nvSpPr>
          <p:cNvPr id="10" name="Shape 6"/>
          <p:cNvSpPr/>
          <p:nvPr/>
        </p:nvSpPr>
        <p:spPr>
          <a:xfrm>
            <a:off x="548640" y="3145536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3264408"/>
            <a:ext cx="219456" cy="21945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188720" y="3145536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variables</a:t>
            </a:r>
            <a:endParaRPr lang="en-US" sz="1550" dirty="0"/>
          </a:p>
        </p:txBody>
      </p:sp>
      <p:sp>
        <p:nvSpPr>
          <p:cNvPr id="13" name="Shape 8"/>
          <p:cNvSpPr/>
          <p:nvPr/>
        </p:nvSpPr>
        <p:spPr>
          <a:xfrm>
            <a:off x="548640" y="3803904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3922776"/>
            <a:ext cx="219456" cy="219456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188720" y="3803904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Into / Step Over</a:t>
            </a:r>
            <a:endParaRPr lang="en-US" sz="1550" dirty="0"/>
          </a:p>
        </p:txBody>
      </p:sp>
      <p:sp>
        <p:nvSpPr>
          <p:cNvPr id="16" name="Shape 10"/>
          <p:cNvSpPr/>
          <p:nvPr/>
        </p:nvSpPr>
        <p:spPr>
          <a:xfrm>
            <a:off x="548640" y="446227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4581144"/>
            <a:ext cx="219456" cy="219456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188720" y="4462272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call stack</a:t>
            </a:r>
            <a:endParaRPr lang="en-US" sz="1550" dirty="0"/>
          </a:p>
        </p:txBody>
      </p:sp>
      <p:sp>
        <p:nvSpPr>
          <p:cNvPr id="19" name="Shape 12"/>
          <p:cNvSpPr/>
          <p:nvPr/>
        </p:nvSpPr>
        <p:spPr>
          <a:xfrm>
            <a:off x="6583680" y="1828800"/>
            <a:ext cx="5029200" cy="1188720"/>
          </a:xfrm>
          <a:prstGeom prst="roundRect">
            <a:avLst>
              <a:gd name="adj" fmla="val 6154"/>
            </a:avLst>
          </a:prstGeom>
          <a:solidFill>
            <a:srgbClr val="1B1F3B"/>
          </a:solidFill>
          <a:ln/>
          <a:effectLst>
            <a:outerShdw blurRad="101600" dist="38100" dir="2700000" algn="bl" rotWithShape="0">
              <a:srgbClr val="1E2761">
                <a:alpha val="12000"/>
              </a:srgbClr>
            </a:outerShdw>
          </a:effectLst>
        </p:spPr>
      </p:sp>
      <p:sp>
        <p:nvSpPr>
          <p:cNvPr id="20" name="Text 13"/>
          <p:cNvSpPr/>
          <p:nvPr/>
        </p:nvSpPr>
        <p:spPr>
          <a:xfrm>
            <a:off x="6858000" y="1828800"/>
            <a:ext cx="4480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9E7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clang -g filename.c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F9E7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-o filename</a:t>
            </a:r>
            <a:endParaRPr lang="en-US" sz="1600" dirty="0"/>
          </a:p>
        </p:txBody>
      </p:sp>
      <p:sp>
        <p:nvSpPr>
          <p:cNvPr id="21" name="Shape 14"/>
          <p:cNvSpPr/>
          <p:nvPr/>
        </p:nvSpPr>
        <p:spPr>
          <a:xfrm>
            <a:off x="6583680" y="324612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EEF2FB"/>
          </a:solidFill>
          <a:ln/>
          <a:effectLst>
            <a:outerShdw blurRad="101600" dist="38100" dir="2700000" algn="bl" rotWithShape="0">
              <a:srgbClr val="1E2761">
                <a:alpha val="12000"/>
              </a:srgbClr>
            </a:outerShdw>
          </a:effectLst>
        </p:spPr>
      </p:sp>
      <p:sp>
        <p:nvSpPr>
          <p:cNvPr id="22" name="Text 15"/>
          <p:cNvSpPr/>
          <p:nvPr/>
        </p:nvSpPr>
        <p:spPr>
          <a:xfrm>
            <a:off x="6858000" y="3246120"/>
            <a:ext cx="4480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-g</a:t>
            </a: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generates debugging information for use with </a:t>
            </a: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LLDB</a:t>
            </a: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or </a:t>
            </a: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GDB</a:t>
            </a: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500" dirty="0"/>
          </a:p>
        </p:txBody>
      </p:sp>
      <p:sp>
        <p:nvSpPr>
          <p:cNvPr id="23" name="Text 16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Programming &amp; Software Engineering</a:t>
            </a:r>
            <a:endParaRPr lang="en-US" sz="900" dirty="0"/>
          </a:p>
        </p:txBody>
      </p:sp>
      <p:sp>
        <p:nvSpPr>
          <p:cNvPr id="24" name="Text 17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84080" y="-1371600"/>
            <a:ext cx="3657600" cy="3657600"/>
          </a:xfrm>
          <a:prstGeom prst="ellipse">
            <a:avLst/>
          </a:prstGeom>
          <a:solidFill>
            <a:srgbClr val="26307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Clang, LLVM and LLDB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compiler toolchain that turns C source into a running, debuggable program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3566160" cy="1554480"/>
          </a:xfrm>
          <a:prstGeom prst="roundRect">
            <a:avLst>
              <a:gd name="adj" fmla="val 5882"/>
            </a:avLst>
          </a:prstGeom>
          <a:solidFill>
            <a:srgbClr val="26307A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2103120"/>
            <a:ext cx="777240" cy="7772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602" y="2305202"/>
            <a:ext cx="373075" cy="37307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91640" y="20116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Clang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691640" y="246888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/ C++ Compiler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297680" y="1737360"/>
            <a:ext cx="3566160" cy="1554480"/>
          </a:xfrm>
          <a:prstGeom prst="roundRect">
            <a:avLst>
              <a:gd name="adj" fmla="val 5882"/>
            </a:avLst>
          </a:prstGeom>
          <a:solidFill>
            <a:srgbClr val="26307A"/>
          </a:solidFill>
          <a:ln/>
        </p:spPr>
      </p:sp>
      <p:sp>
        <p:nvSpPr>
          <p:cNvPr id="11" name="Shape 8"/>
          <p:cNvSpPr/>
          <p:nvPr/>
        </p:nvSpPr>
        <p:spPr>
          <a:xfrm>
            <a:off x="4572000" y="2103120"/>
            <a:ext cx="777240" cy="7772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4082" y="2305202"/>
            <a:ext cx="373075" cy="37307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532120" y="20116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LLVM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5532120" y="246888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Compiler Infrastructure &amp; Optimization Framework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138160" y="1737360"/>
            <a:ext cx="3566160" cy="1554480"/>
          </a:xfrm>
          <a:prstGeom prst="roundRect">
            <a:avLst>
              <a:gd name="adj" fmla="val 5882"/>
            </a:avLst>
          </a:prstGeom>
          <a:solidFill>
            <a:srgbClr val="26307A"/>
          </a:solidFill>
          <a:ln/>
        </p:spPr>
      </p:sp>
      <p:sp>
        <p:nvSpPr>
          <p:cNvPr id="16" name="Shape 12"/>
          <p:cNvSpPr/>
          <p:nvPr/>
        </p:nvSpPr>
        <p:spPr>
          <a:xfrm>
            <a:off x="8412480" y="2103120"/>
            <a:ext cx="777240" cy="7772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14562" y="2305202"/>
            <a:ext cx="373075" cy="373075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372600" y="20116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LLDB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9372600" y="246888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Debugger used with Clang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548640" y="3931920"/>
            <a:ext cx="19659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</p:spPr>
      </p:sp>
      <p:sp>
        <p:nvSpPr>
          <p:cNvPr id="21" name="Text 16"/>
          <p:cNvSpPr/>
          <p:nvPr/>
        </p:nvSpPr>
        <p:spPr>
          <a:xfrm>
            <a:off x="548640" y="393192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Code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2560320" y="4229100"/>
            <a:ext cx="217170" cy="182880"/>
          </a:xfrm>
          <a:prstGeom prst="rightArrow">
            <a:avLst/>
          </a:prstGeom>
          <a:solidFill>
            <a:srgbClr val="CADCFC"/>
          </a:solidFill>
          <a:ln/>
        </p:spPr>
      </p:sp>
      <p:sp>
        <p:nvSpPr>
          <p:cNvPr id="23" name="Shape 18"/>
          <p:cNvSpPr/>
          <p:nvPr/>
        </p:nvSpPr>
        <p:spPr>
          <a:xfrm>
            <a:off x="2823210" y="3931920"/>
            <a:ext cx="1965960" cy="777240"/>
          </a:xfrm>
          <a:prstGeom prst="roundRect">
            <a:avLst>
              <a:gd name="adj" fmla="val 9412"/>
            </a:avLst>
          </a:prstGeom>
          <a:solidFill>
            <a:srgbClr val="CADCFC"/>
          </a:solidFill>
          <a:ln/>
        </p:spPr>
      </p:sp>
      <p:sp>
        <p:nvSpPr>
          <p:cNvPr id="24" name="Text 19"/>
          <p:cNvSpPr/>
          <p:nvPr/>
        </p:nvSpPr>
        <p:spPr>
          <a:xfrm>
            <a:off x="2823210" y="393192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Clang Compiler</a:t>
            </a:r>
            <a:endParaRPr lang="en-US" sz="1250" dirty="0"/>
          </a:p>
        </p:txBody>
      </p:sp>
      <p:sp>
        <p:nvSpPr>
          <p:cNvPr id="25" name="Shape 20"/>
          <p:cNvSpPr/>
          <p:nvPr/>
        </p:nvSpPr>
        <p:spPr>
          <a:xfrm>
            <a:off x="4834890" y="4229100"/>
            <a:ext cx="217170" cy="182880"/>
          </a:xfrm>
          <a:prstGeom prst="rightArrow">
            <a:avLst/>
          </a:prstGeom>
          <a:solidFill>
            <a:srgbClr val="CADCFC"/>
          </a:solidFill>
          <a:ln/>
        </p:spPr>
      </p:sp>
      <p:sp>
        <p:nvSpPr>
          <p:cNvPr id="26" name="Shape 21"/>
          <p:cNvSpPr/>
          <p:nvPr/>
        </p:nvSpPr>
        <p:spPr>
          <a:xfrm>
            <a:off x="5097780" y="3931920"/>
            <a:ext cx="19659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</p:spPr>
      </p:sp>
      <p:sp>
        <p:nvSpPr>
          <p:cNvPr id="27" name="Text 22"/>
          <p:cNvSpPr/>
          <p:nvPr/>
        </p:nvSpPr>
        <p:spPr>
          <a:xfrm>
            <a:off x="5097780" y="393192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LLVM Optimizer</a:t>
            </a:r>
            <a:endParaRPr lang="en-US" sz="1250" dirty="0"/>
          </a:p>
        </p:txBody>
      </p:sp>
      <p:sp>
        <p:nvSpPr>
          <p:cNvPr id="28" name="Shape 23"/>
          <p:cNvSpPr/>
          <p:nvPr/>
        </p:nvSpPr>
        <p:spPr>
          <a:xfrm>
            <a:off x="7109460" y="4229100"/>
            <a:ext cx="217170" cy="182880"/>
          </a:xfrm>
          <a:prstGeom prst="rightArrow">
            <a:avLst/>
          </a:prstGeom>
          <a:solidFill>
            <a:srgbClr val="CADCFC"/>
          </a:solidFill>
          <a:ln/>
        </p:spPr>
      </p:sp>
      <p:sp>
        <p:nvSpPr>
          <p:cNvPr id="29" name="Shape 24"/>
          <p:cNvSpPr/>
          <p:nvPr/>
        </p:nvSpPr>
        <p:spPr>
          <a:xfrm>
            <a:off x="7372350" y="3931920"/>
            <a:ext cx="1965960" cy="777240"/>
          </a:xfrm>
          <a:prstGeom prst="roundRect">
            <a:avLst>
              <a:gd name="adj" fmla="val 9412"/>
            </a:avLst>
          </a:prstGeom>
          <a:solidFill>
            <a:srgbClr val="CADCFC"/>
          </a:solidFill>
          <a:ln/>
        </p:spPr>
      </p:sp>
      <p:sp>
        <p:nvSpPr>
          <p:cNvPr id="30" name="Text 25"/>
          <p:cNvSpPr/>
          <p:nvPr/>
        </p:nvSpPr>
        <p:spPr>
          <a:xfrm>
            <a:off x="7372350" y="393192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Executable</a:t>
            </a:r>
            <a:endParaRPr lang="en-US" sz="1250" dirty="0"/>
          </a:p>
        </p:txBody>
      </p:sp>
      <p:sp>
        <p:nvSpPr>
          <p:cNvPr id="31" name="Shape 26"/>
          <p:cNvSpPr/>
          <p:nvPr/>
        </p:nvSpPr>
        <p:spPr>
          <a:xfrm>
            <a:off x="9384030" y="4229100"/>
            <a:ext cx="217170" cy="182880"/>
          </a:xfrm>
          <a:prstGeom prst="rightArrow">
            <a:avLst/>
          </a:prstGeom>
          <a:solidFill>
            <a:srgbClr val="CADCFC"/>
          </a:solidFill>
          <a:ln/>
        </p:spPr>
      </p:sp>
      <p:sp>
        <p:nvSpPr>
          <p:cNvPr id="32" name="Shape 27"/>
          <p:cNvSpPr/>
          <p:nvPr/>
        </p:nvSpPr>
        <p:spPr>
          <a:xfrm>
            <a:off x="9646920" y="3931920"/>
            <a:ext cx="19659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</p:spPr>
      </p:sp>
      <p:sp>
        <p:nvSpPr>
          <p:cNvPr id="33" name="Text 28"/>
          <p:cNvSpPr/>
          <p:nvPr/>
        </p:nvSpPr>
        <p:spPr>
          <a:xfrm>
            <a:off x="9646920" y="393192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LLDB Debugger</a:t>
            </a:r>
            <a:endParaRPr lang="en-US" sz="1250" dirty="0"/>
          </a:p>
        </p:txBody>
      </p:sp>
      <p:sp>
        <p:nvSpPr>
          <p:cNvPr id="34" name="Text 29"/>
          <p:cNvSpPr/>
          <p:nvPr/>
        </p:nvSpPr>
        <p:spPr>
          <a:xfrm>
            <a:off x="640080" y="52120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of Overview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753</Words>
  <Application>Microsoft Office PowerPoint</Application>
  <PresentationFormat>Widescreen</PresentationFormat>
  <Paragraphs>233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 Programming &amp; Software Engineering Overview</dc:title>
  <dc:subject>PptxGenJS Presentation</dc:subject>
  <dc:creator>Vasanth</dc:creator>
  <cp:lastModifiedBy>vasanth saran</cp:lastModifiedBy>
  <cp:revision>2</cp:revision>
  <dcterms:created xsi:type="dcterms:W3CDTF">2026-07-04T04:52:15Z</dcterms:created>
  <dcterms:modified xsi:type="dcterms:W3CDTF">2026-07-04T05:49:19Z</dcterms:modified>
</cp:coreProperties>
</file>